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1"/>
  </p:notesMasterIdLst>
  <p:handoutMasterIdLst>
    <p:handoutMasterId r:id="rId42"/>
  </p:handoutMasterIdLst>
  <p:sldIdLst>
    <p:sldId id="257" r:id="rId2"/>
    <p:sldId id="297" r:id="rId3"/>
    <p:sldId id="344" r:id="rId4"/>
    <p:sldId id="278" r:id="rId5"/>
    <p:sldId id="310" r:id="rId6"/>
    <p:sldId id="298" r:id="rId7"/>
    <p:sldId id="312" r:id="rId8"/>
    <p:sldId id="313" r:id="rId9"/>
    <p:sldId id="284" r:id="rId10"/>
    <p:sldId id="315" r:id="rId11"/>
    <p:sldId id="316" r:id="rId12"/>
    <p:sldId id="317" r:id="rId13"/>
    <p:sldId id="318" r:id="rId14"/>
    <p:sldId id="320" r:id="rId15"/>
    <p:sldId id="321" r:id="rId16"/>
    <p:sldId id="319" r:id="rId17"/>
    <p:sldId id="322" r:id="rId18"/>
    <p:sldId id="324" r:id="rId19"/>
    <p:sldId id="323" r:id="rId20"/>
    <p:sldId id="326" r:id="rId21"/>
    <p:sldId id="327" r:id="rId22"/>
    <p:sldId id="325" r:id="rId23"/>
    <p:sldId id="328" r:id="rId24"/>
    <p:sldId id="334" r:id="rId25"/>
    <p:sldId id="309" r:id="rId26"/>
    <p:sldId id="279" r:id="rId27"/>
    <p:sldId id="280" r:id="rId28"/>
    <p:sldId id="281" r:id="rId29"/>
    <p:sldId id="282" r:id="rId30"/>
    <p:sldId id="283" r:id="rId31"/>
    <p:sldId id="277" r:id="rId32"/>
    <p:sldId id="288" r:id="rId33"/>
    <p:sldId id="286" r:id="rId34"/>
    <p:sldId id="287" r:id="rId35"/>
    <p:sldId id="289" r:id="rId36"/>
    <p:sldId id="290" r:id="rId37"/>
    <p:sldId id="291" r:id="rId38"/>
    <p:sldId id="292" r:id="rId39"/>
    <p:sldId id="294" r:id="rId40"/>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40" userDrawn="1">
          <p15:clr>
            <a:srgbClr val="A4A3A4"/>
          </p15:clr>
        </p15:guide>
        <p15:guide id="6" orient="horz" pos="144" userDrawn="1">
          <p15:clr>
            <a:srgbClr val="A4A3A4"/>
          </p15:clr>
        </p15:guide>
        <p15:guide id="7" orient="horz" pos="4104" userDrawn="1">
          <p15:clr>
            <a:srgbClr val="A4A3A4"/>
          </p15:clr>
        </p15:guide>
        <p15:guide id="8" pos="7440" userDrawn="1">
          <p15:clr>
            <a:srgbClr val="A4A3A4"/>
          </p15:clr>
        </p15:guide>
        <p15:guide id="13" orient="horz" pos="1512" userDrawn="1">
          <p15:clr>
            <a:srgbClr val="A4A3A4"/>
          </p15:clr>
        </p15:guide>
        <p15:guide id="17" orient="horz" pos="2376" userDrawn="1">
          <p15:clr>
            <a:srgbClr val="A4A3A4"/>
          </p15:clr>
        </p15:guide>
        <p15:guide id="18" pos="4824" userDrawn="1">
          <p15:clr>
            <a:srgbClr val="A4A3A4"/>
          </p15:clr>
        </p15:guide>
        <p15:guide id="20" pos="2016" userDrawn="1">
          <p15:clr>
            <a:srgbClr val="A4A3A4"/>
          </p15:clr>
        </p15:guide>
        <p15:guide id="21" orient="horz" pos="1680" userDrawn="1">
          <p15:clr>
            <a:srgbClr val="A4A3A4"/>
          </p15:clr>
        </p15:guide>
        <p15:guide id="22" orient="horz" pos="1008" userDrawn="1">
          <p15:clr>
            <a:srgbClr val="A4A3A4"/>
          </p15:clr>
        </p15:guide>
        <p15:guide id="23" pos="408" userDrawn="1">
          <p15:clr>
            <a:srgbClr val="A4A3A4"/>
          </p15:clr>
        </p15:guide>
        <p15:guide id="24" orient="horz" pos="792" userDrawn="1">
          <p15:clr>
            <a:srgbClr val="A4A3A4"/>
          </p15:clr>
        </p15:guide>
        <p15:guide id="25" orient="horz" pos="2760" userDrawn="1">
          <p15:clr>
            <a:srgbClr val="A4A3A4"/>
          </p15:clr>
        </p15:guide>
        <p15:guide id="26" orient="horz" pos="3024" userDrawn="1">
          <p15:clr>
            <a:srgbClr val="A4A3A4"/>
          </p15:clr>
        </p15:guide>
        <p15:guide id="27" pos="3840" userDrawn="1">
          <p15:clr>
            <a:srgbClr val="A4A3A4"/>
          </p15:clr>
        </p15:guide>
        <p15:guide id="28" orient="horz" pos="22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353F"/>
    <a:srgbClr val="43CDD9"/>
    <a:srgbClr val="667181"/>
    <a:srgbClr val="BABABA"/>
    <a:srgbClr val="DBDBDB"/>
    <a:srgbClr val="85E0E7"/>
    <a:srgbClr val="515A6B"/>
    <a:srgbClr val="AFBBBD"/>
    <a:srgbClr val="8FA0A3"/>
    <a:srgbClr val="5FD6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9" autoAdjust="0"/>
    <p:restoredTop sz="73585" autoAdjust="0"/>
  </p:normalViewPr>
  <p:slideViewPr>
    <p:cSldViewPr snapToGrid="0" showGuides="1">
      <p:cViewPr varScale="1">
        <p:scale>
          <a:sx n="76" d="100"/>
          <a:sy n="76" d="100"/>
        </p:scale>
        <p:origin x="126" y="318"/>
      </p:cViewPr>
      <p:guideLst>
        <p:guide pos="240"/>
        <p:guide orient="horz" pos="144"/>
        <p:guide orient="horz" pos="4104"/>
        <p:guide pos="7440"/>
        <p:guide orient="horz" pos="1512"/>
        <p:guide orient="horz" pos="2376"/>
        <p:guide pos="4824"/>
        <p:guide pos="2016"/>
        <p:guide orient="horz" pos="1680"/>
        <p:guide orient="horz" pos="1008"/>
        <p:guide pos="408"/>
        <p:guide orient="horz" pos="792"/>
        <p:guide orient="horz" pos="2760"/>
        <p:guide orient="horz" pos="3024"/>
        <p:guide pos="3840"/>
        <p:guide orient="horz" pos="2280"/>
      </p:guideLst>
    </p:cSldViewPr>
  </p:slideViewPr>
  <p:outlineViewPr>
    <p:cViewPr>
      <p:scale>
        <a:sx n="33" d="100"/>
        <a:sy n="33" d="100"/>
      </p:scale>
      <p:origin x="0" y="-5076"/>
    </p:cViewPr>
  </p:outlineViewPr>
  <p:notesTextViewPr>
    <p:cViewPr>
      <p:scale>
        <a:sx n="1" d="1"/>
        <a:sy n="1" d="1"/>
      </p:scale>
      <p:origin x="0" y="0"/>
    </p:cViewPr>
  </p:notesTextViewPr>
  <p:sorterViewPr>
    <p:cViewPr>
      <p:scale>
        <a:sx n="100" d="100"/>
        <a:sy n="100" d="100"/>
      </p:scale>
      <p:origin x="0" y="-3738"/>
    </p:cViewPr>
  </p:sorterViewPr>
  <p:notesViewPr>
    <p:cSldViewPr snapToGrid="0">
      <p:cViewPr varScale="1">
        <p:scale>
          <a:sx n="81" d="100"/>
          <a:sy n="81" d="100"/>
        </p:scale>
        <p:origin x="1278"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s>
</file>

<file path=ppt/diagrams/_rels/data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svg"/><Relationship Id="rId1" Type="http://schemas.openxmlformats.org/officeDocument/2006/relationships/image" Target="../media/image45.png"/><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s>
</file>

<file path=ppt/diagrams/_rels/drawing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svg"/><Relationship Id="rId1" Type="http://schemas.openxmlformats.org/officeDocument/2006/relationships/image" Target="../media/image45.png"/><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diagrams/colors1.xml><?xml version="1.0" encoding="utf-8"?>
<dgm:colorsDef xmlns:dgm="http://schemas.openxmlformats.org/drawingml/2006/diagram" xmlns:a="http://schemas.openxmlformats.org/drawingml/2006/main" uniqueId="urn:microsoft.com/office/officeart/2018/5/colors/Iconchunking_neutralicon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653E9E-9C38-4FDD-BA5F-0F70F360D77F}" type="doc">
      <dgm:prSet loTypeId="urn:microsoft.com/office/officeart/2018/5/layout/IconCircleLabelList" loCatId="icon" qsTypeId="urn:microsoft.com/office/officeart/2005/8/quickstyle/simple1" qsCatId="simple" csTypeId="urn:microsoft.com/office/officeart/2018/5/colors/Iconchunking_neutralicon_accent2_2" csCatId="accent2" phldr="1"/>
      <dgm:spPr/>
      <dgm:t>
        <a:bodyPr/>
        <a:lstStyle/>
        <a:p>
          <a:endParaRPr lang="en-US"/>
        </a:p>
      </dgm:t>
    </dgm:pt>
    <dgm:pt modelId="{655CA1E9-D13D-4CA7-8A23-C4F9B552199A}">
      <dgm:prSet/>
      <dgm:spPr/>
      <dgm:t>
        <a:bodyPr/>
        <a:lstStyle/>
        <a:p>
          <a:pPr>
            <a:defRPr cap="all"/>
          </a:pPr>
          <a:r>
            <a:rPr lang="en-US"/>
            <a:t>Data Scientist: Analyzes complex data to derive insights and build predictive models.</a:t>
          </a:r>
        </a:p>
      </dgm:t>
    </dgm:pt>
    <dgm:pt modelId="{752C574C-4E08-4E8F-B020-F11B981E2CE8}" type="parTrans" cxnId="{F63CFF5A-9F53-442A-A8EA-D78AA75D59CD}">
      <dgm:prSet/>
      <dgm:spPr/>
      <dgm:t>
        <a:bodyPr/>
        <a:lstStyle/>
        <a:p>
          <a:endParaRPr lang="en-US"/>
        </a:p>
      </dgm:t>
    </dgm:pt>
    <dgm:pt modelId="{B6A2C1C5-93C3-4FC4-A981-9504894038C6}" type="sibTrans" cxnId="{F63CFF5A-9F53-442A-A8EA-D78AA75D59CD}">
      <dgm:prSet/>
      <dgm:spPr/>
      <dgm:t>
        <a:bodyPr/>
        <a:lstStyle/>
        <a:p>
          <a:pPr>
            <a:lnSpc>
              <a:spcPct val="100000"/>
            </a:lnSpc>
          </a:pPr>
          <a:endParaRPr lang="en-US"/>
        </a:p>
      </dgm:t>
    </dgm:pt>
    <dgm:pt modelId="{B5F01DBF-6368-491C-BFEE-5DBBE5972EF9}">
      <dgm:prSet/>
      <dgm:spPr/>
      <dgm:t>
        <a:bodyPr/>
        <a:lstStyle/>
        <a:p>
          <a:pPr>
            <a:defRPr cap="all"/>
          </a:pPr>
          <a:r>
            <a:rPr lang="en-US"/>
            <a:t>Machine Learning Engineer: Develops ML algorithms and deploys them into production systems.</a:t>
          </a:r>
        </a:p>
      </dgm:t>
    </dgm:pt>
    <dgm:pt modelId="{062AFE08-75CD-488F-8721-8C5DD998FEFF}" type="parTrans" cxnId="{165C687C-6EF0-43FD-9A94-54CD58270583}">
      <dgm:prSet/>
      <dgm:spPr/>
      <dgm:t>
        <a:bodyPr/>
        <a:lstStyle/>
        <a:p>
          <a:endParaRPr lang="en-US"/>
        </a:p>
      </dgm:t>
    </dgm:pt>
    <dgm:pt modelId="{E756676A-FC27-4975-9AF0-A0173436395E}" type="sibTrans" cxnId="{165C687C-6EF0-43FD-9A94-54CD58270583}">
      <dgm:prSet/>
      <dgm:spPr/>
      <dgm:t>
        <a:bodyPr/>
        <a:lstStyle/>
        <a:p>
          <a:pPr>
            <a:lnSpc>
              <a:spcPct val="100000"/>
            </a:lnSpc>
          </a:pPr>
          <a:endParaRPr lang="en-US"/>
        </a:p>
      </dgm:t>
    </dgm:pt>
    <dgm:pt modelId="{04D37D0E-6405-46DA-8AF1-CA169B68C666}">
      <dgm:prSet/>
      <dgm:spPr/>
      <dgm:t>
        <a:bodyPr/>
        <a:lstStyle/>
        <a:p>
          <a:pPr>
            <a:defRPr cap="all"/>
          </a:pPr>
          <a:r>
            <a:rPr lang="en-US"/>
            <a:t>AI Research Scientist: Conducts research to advance the field of AI and develop innovative algorithms.</a:t>
          </a:r>
        </a:p>
      </dgm:t>
    </dgm:pt>
    <dgm:pt modelId="{481C23B9-E079-44E0-84A6-16E939CD5A3D}" type="parTrans" cxnId="{433DD4E8-14EA-4C4E-8E18-A4FFED914F70}">
      <dgm:prSet/>
      <dgm:spPr/>
      <dgm:t>
        <a:bodyPr/>
        <a:lstStyle/>
        <a:p>
          <a:endParaRPr lang="en-US"/>
        </a:p>
      </dgm:t>
    </dgm:pt>
    <dgm:pt modelId="{44F95F37-AB11-4FA0-A315-615B4C2F4B68}" type="sibTrans" cxnId="{433DD4E8-14EA-4C4E-8E18-A4FFED914F70}">
      <dgm:prSet/>
      <dgm:spPr/>
      <dgm:t>
        <a:bodyPr/>
        <a:lstStyle/>
        <a:p>
          <a:pPr>
            <a:lnSpc>
              <a:spcPct val="100000"/>
            </a:lnSpc>
          </a:pPr>
          <a:endParaRPr lang="en-US"/>
        </a:p>
      </dgm:t>
    </dgm:pt>
    <dgm:pt modelId="{C3C8FA5D-2342-4BDC-9DDF-687C4C089D55}">
      <dgm:prSet/>
      <dgm:spPr/>
      <dgm:t>
        <a:bodyPr/>
        <a:lstStyle/>
        <a:p>
          <a:pPr>
            <a:defRPr cap="all"/>
          </a:pPr>
          <a:r>
            <a:rPr lang="en-US"/>
            <a:t>Data Engineer: Designs and builds data pipelines to support ML and AI applications.</a:t>
          </a:r>
        </a:p>
      </dgm:t>
    </dgm:pt>
    <dgm:pt modelId="{C45576FE-FBC8-4E22-AA1F-655A80EB4A0C}" type="parTrans" cxnId="{B64D7ECB-B41F-4CF9-B3C4-1F9B5499E3E8}">
      <dgm:prSet/>
      <dgm:spPr/>
      <dgm:t>
        <a:bodyPr/>
        <a:lstStyle/>
        <a:p>
          <a:endParaRPr lang="en-US"/>
        </a:p>
      </dgm:t>
    </dgm:pt>
    <dgm:pt modelId="{280B6158-1541-474B-8CDB-E86297DC1E1A}" type="sibTrans" cxnId="{B64D7ECB-B41F-4CF9-B3C4-1F9B5499E3E8}">
      <dgm:prSet/>
      <dgm:spPr/>
      <dgm:t>
        <a:bodyPr/>
        <a:lstStyle/>
        <a:p>
          <a:pPr>
            <a:lnSpc>
              <a:spcPct val="100000"/>
            </a:lnSpc>
          </a:pPr>
          <a:endParaRPr lang="en-US"/>
        </a:p>
      </dgm:t>
    </dgm:pt>
    <dgm:pt modelId="{0C788C8A-856C-4A16-A5DD-EAA8C8B650BA}">
      <dgm:prSet/>
      <dgm:spPr/>
      <dgm:t>
        <a:bodyPr/>
        <a:lstStyle/>
        <a:p>
          <a:pPr>
            <a:defRPr cap="all"/>
          </a:pPr>
          <a:r>
            <a:rPr lang="en-US"/>
            <a:t>AI Product Manager: Oversees the development and implementation of AI-powered products and services.</a:t>
          </a:r>
        </a:p>
      </dgm:t>
    </dgm:pt>
    <dgm:pt modelId="{356A73AE-A81B-4191-B0D1-58E39892B51E}" type="parTrans" cxnId="{B8005BED-9ADB-472E-B518-400714DC1DAC}">
      <dgm:prSet/>
      <dgm:spPr/>
      <dgm:t>
        <a:bodyPr/>
        <a:lstStyle/>
        <a:p>
          <a:endParaRPr lang="en-US"/>
        </a:p>
      </dgm:t>
    </dgm:pt>
    <dgm:pt modelId="{15DF409A-11EC-4B62-991A-80AB9201C497}" type="sibTrans" cxnId="{B8005BED-9ADB-472E-B518-400714DC1DAC}">
      <dgm:prSet/>
      <dgm:spPr/>
      <dgm:t>
        <a:bodyPr/>
        <a:lstStyle/>
        <a:p>
          <a:endParaRPr lang="en-US"/>
        </a:p>
      </dgm:t>
    </dgm:pt>
    <dgm:pt modelId="{6529CAF6-DA83-4725-B0F0-3963E57BE280}" type="pres">
      <dgm:prSet presAssocID="{16653E9E-9C38-4FDD-BA5F-0F70F360D77F}" presName="root" presStyleCnt="0">
        <dgm:presLayoutVars>
          <dgm:dir/>
          <dgm:resizeHandles val="exact"/>
        </dgm:presLayoutVars>
      </dgm:prSet>
      <dgm:spPr/>
    </dgm:pt>
    <dgm:pt modelId="{89D523C7-68D0-4049-8CD8-36A6D4F4F4FA}" type="pres">
      <dgm:prSet presAssocID="{655CA1E9-D13D-4CA7-8A23-C4F9B552199A}" presName="compNode" presStyleCnt="0"/>
      <dgm:spPr/>
    </dgm:pt>
    <dgm:pt modelId="{62A90939-3C6F-43B6-93AF-3F16839CFB26}" type="pres">
      <dgm:prSet presAssocID="{655CA1E9-D13D-4CA7-8A23-C4F9B552199A}" presName="iconBgRect" presStyleLbl="bgShp" presStyleIdx="0" presStyleCnt="5"/>
      <dgm:spPr/>
    </dgm:pt>
    <dgm:pt modelId="{18E2D558-53E8-4E0C-873C-E52C205DB657}" type="pres">
      <dgm:prSet presAssocID="{655CA1E9-D13D-4CA7-8A23-C4F9B552199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7CC8D0E3-CBE2-4AAD-9A07-ED59425D04EC}" type="pres">
      <dgm:prSet presAssocID="{655CA1E9-D13D-4CA7-8A23-C4F9B552199A}" presName="spaceRect" presStyleCnt="0"/>
      <dgm:spPr/>
    </dgm:pt>
    <dgm:pt modelId="{F7E3C477-B131-4E0A-9C3B-1C74157429EE}" type="pres">
      <dgm:prSet presAssocID="{655CA1E9-D13D-4CA7-8A23-C4F9B552199A}" presName="textRect" presStyleLbl="revTx" presStyleIdx="0" presStyleCnt="5">
        <dgm:presLayoutVars>
          <dgm:chMax val="1"/>
          <dgm:chPref val="1"/>
        </dgm:presLayoutVars>
      </dgm:prSet>
      <dgm:spPr/>
    </dgm:pt>
    <dgm:pt modelId="{E6780ADC-5D76-4917-8052-9FC0D606F91A}" type="pres">
      <dgm:prSet presAssocID="{B6A2C1C5-93C3-4FC4-A981-9504894038C6}" presName="sibTrans" presStyleCnt="0"/>
      <dgm:spPr/>
    </dgm:pt>
    <dgm:pt modelId="{201308F5-0954-4807-A58F-07F0523FE3D5}" type="pres">
      <dgm:prSet presAssocID="{B5F01DBF-6368-491C-BFEE-5DBBE5972EF9}" presName="compNode" presStyleCnt="0"/>
      <dgm:spPr/>
    </dgm:pt>
    <dgm:pt modelId="{B6B43935-D242-47B8-AEB2-BCB09EED9644}" type="pres">
      <dgm:prSet presAssocID="{B5F01DBF-6368-491C-BFEE-5DBBE5972EF9}" presName="iconBgRect" presStyleLbl="bgShp" presStyleIdx="1" presStyleCnt="5"/>
      <dgm:spPr/>
    </dgm:pt>
    <dgm:pt modelId="{854BA910-CB77-47C0-81B0-392A455F8F99}" type="pres">
      <dgm:prSet presAssocID="{B5F01DBF-6368-491C-BFEE-5DBBE5972EF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5B8F2231-B705-48B1-82A7-C4376F7D38AF}" type="pres">
      <dgm:prSet presAssocID="{B5F01DBF-6368-491C-BFEE-5DBBE5972EF9}" presName="spaceRect" presStyleCnt="0"/>
      <dgm:spPr/>
    </dgm:pt>
    <dgm:pt modelId="{189DD257-B842-4CFC-AB55-F4FB44FFB773}" type="pres">
      <dgm:prSet presAssocID="{B5F01DBF-6368-491C-BFEE-5DBBE5972EF9}" presName="textRect" presStyleLbl="revTx" presStyleIdx="1" presStyleCnt="5">
        <dgm:presLayoutVars>
          <dgm:chMax val="1"/>
          <dgm:chPref val="1"/>
        </dgm:presLayoutVars>
      </dgm:prSet>
      <dgm:spPr/>
    </dgm:pt>
    <dgm:pt modelId="{2E8223B8-DD83-4D03-8E3A-F8E9A5A2A3B0}" type="pres">
      <dgm:prSet presAssocID="{E756676A-FC27-4975-9AF0-A0173436395E}" presName="sibTrans" presStyleCnt="0"/>
      <dgm:spPr/>
    </dgm:pt>
    <dgm:pt modelId="{6F9F25C0-D24B-4312-AE59-4F9659542036}" type="pres">
      <dgm:prSet presAssocID="{04D37D0E-6405-46DA-8AF1-CA169B68C666}" presName="compNode" presStyleCnt="0"/>
      <dgm:spPr/>
    </dgm:pt>
    <dgm:pt modelId="{7192391D-5C34-4916-84C0-DCD45128D3B6}" type="pres">
      <dgm:prSet presAssocID="{04D37D0E-6405-46DA-8AF1-CA169B68C666}" presName="iconBgRect" presStyleLbl="bgShp" presStyleIdx="2" presStyleCnt="5"/>
      <dgm:spPr/>
    </dgm:pt>
    <dgm:pt modelId="{1DC9A6E8-0168-40B8-81FA-4A441C76CFD9}" type="pres">
      <dgm:prSet presAssocID="{04D37D0E-6405-46DA-8AF1-CA169B68C66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erson with Idea"/>
        </a:ext>
      </dgm:extLst>
    </dgm:pt>
    <dgm:pt modelId="{90B7806C-F343-4FA0-AD43-7A7203862881}" type="pres">
      <dgm:prSet presAssocID="{04D37D0E-6405-46DA-8AF1-CA169B68C666}" presName="spaceRect" presStyleCnt="0"/>
      <dgm:spPr/>
    </dgm:pt>
    <dgm:pt modelId="{7D2AA9D4-9A53-44B5-A36E-010B9D5941D6}" type="pres">
      <dgm:prSet presAssocID="{04D37D0E-6405-46DA-8AF1-CA169B68C666}" presName="textRect" presStyleLbl="revTx" presStyleIdx="2" presStyleCnt="5">
        <dgm:presLayoutVars>
          <dgm:chMax val="1"/>
          <dgm:chPref val="1"/>
        </dgm:presLayoutVars>
      </dgm:prSet>
      <dgm:spPr/>
    </dgm:pt>
    <dgm:pt modelId="{E68FC3CC-F588-4B00-A337-DE31808DC4FA}" type="pres">
      <dgm:prSet presAssocID="{44F95F37-AB11-4FA0-A315-615B4C2F4B68}" presName="sibTrans" presStyleCnt="0"/>
      <dgm:spPr/>
    </dgm:pt>
    <dgm:pt modelId="{47065681-A94F-464A-8015-00ACB8EFF550}" type="pres">
      <dgm:prSet presAssocID="{C3C8FA5D-2342-4BDC-9DDF-687C4C089D55}" presName="compNode" presStyleCnt="0"/>
      <dgm:spPr/>
    </dgm:pt>
    <dgm:pt modelId="{DDD43529-A184-4A8E-88FB-4D79A5C1B804}" type="pres">
      <dgm:prSet presAssocID="{C3C8FA5D-2342-4BDC-9DDF-687C4C089D55}" presName="iconBgRect" presStyleLbl="bgShp" presStyleIdx="3" presStyleCnt="5"/>
      <dgm:spPr/>
    </dgm:pt>
    <dgm:pt modelId="{9BE74987-BC5A-4A53-9B71-ACE582B63E66}" type="pres">
      <dgm:prSet presAssocID="{C3C8FA5D-2342-4BDC-9DDF-687C4C089D55}"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Database outline"/>
        </a:ext>
      </dgm:extLst>
    </dgm:pt>
    <dgm:pt modelId="{72F7085C-4152-42DF-BAA6-99E4E2C9E7BA}" type="pres">
      <dgm:prSet presAssocID="{C3C8FA5D-2342-4BDC-9DDF-687C4C089D55}" presName="spaceRect" presStyleCnt="0"/>
      <dgm:spPr/>
    </dgm:pt>
    <dgm:pt modelId="{ED2F62C4-D790-4C7D-A62A-7F497771A3EB}" type="pres">
      <dgm:prSet presAssocID="{C3C8FA5D-2342-4BDC-9DDF-687C4C089D55}" presName="textRect" presStyleLbl="revTx" presStyleIdx="3" presStyleCnt="5">
        <dgm:presLayoutVars>
          <dgm:chMax val="1"/>
          <dgm:chPref val="1"/>
        </dgm:presLayoutVars>
      </dgm:prSet>
      <dgm:spPr/>
    </dgm:pt>
    <dgm:pt modelId="{362445CA-11D3-4781-A201-E5ECFE100C0D}" type="pres">
      <dgm:prSet presAssocID="{280B6158-1541-474B-8CDB-E86297DC1E1A}" presName="sibTrans" presStyleCnt="0"/>
      <dgm:spPr/>
    </dgm:pt>
    <dgm:pt modelId="{8AE57AE1-02CB-4B09-941E-256F65FD2BAC}" type="pres">
      <dgm:prSet presAssocID="{0C788C8A-856C-4A16-A5DD-EAA8C8B650BA}" presName="compNode" presStyleCnt="0"/>
      <dgm:spPr/>
    </dgm:pt>
    <dgm:pt modelId="{C970E7A2-E0E1-47A2-A4E7-5BE67B329261}" type="pres">
      <dgm:prSet presAssocID="{0C788C8A-856C-4A16-A5DD-EAA8C8B650BA}" presName="iconBgRect" presStyleLbl="bgShp" presStyleIdx="4" presStyleCnt="5"/>
      <dgm:spPr/>
    </dgm:pt>
    <dgm:pt modelId="{B392BEB3-E6F7-4332-A73F-5AF5C8C247E0}" type="pres">
      <dgm:prSet presAssocID="{0C788C8A-856C-4A16-A5DD-EAA8C8B650B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ead with Gears"/>
        </a:ext>
      </dgm:extLst>
    </dgm:pt>
    <dgm:pt modelId="{588DC380-5FF6-4A59-B9B2-0FA6034C29C0}" type="pres">
      <dgm:prSet presAssocID="{0C788C8A-856C-4A16-A5DD-EAA8C8B650BA}" presName="spaceRect" presStyleCnt="0"/>
      <dgm:spPr/>
    </dgm:pt>
    <dgm:pt modelId="{8F68A4CF-3892-4C5D-8E47-528E88374579}" type="pres">
      <dgm:prSet presAssocID="{0C788C8A-856C-4A16-A5DD-EAA8C8B650BA}" presName="textRect" presStyleLbl="revTx" presStyleIdx="4" presStyleCnt="5">
        <dgm:presLayoutVars>
          <dgm:chMax val="1"/>
          <dgm:chPref val="1"/>
        </dgm:presLayoutVars>
      </dgm:prSet>
      <dgm:spPr/>
    </dgm:pt>
  </dgm:ptLst>
  <dgm:cxnLst>
    <dgm:cxn modelId="{F63CFF5A-9F53-442A-A8EA-D78AA75D59CD}" srcId="{16653E9E-9C38-4FDD-BA5F-0F70F360D77F}" destId="{655CA1E9-D13D-4CA7-8A23-C4F9B552199A}" srcOrd="0" destOrd="0" parTransId="{752C574C-4E08-4E8F-B020-F11B981E2CE8}" sibTransId="{B6A2C1C5-93C3-4FC4-A981-9504894038C6}"/>
    <dgm:cxn modelId="{165C687C-6EF0-43FD-9A94-54CD58270583}" srcId="{16653E9E-9C38-4FDD-BA5F-0F70F360D77F}" destId="{B5F01DBF-6368-491C-BFEE-5DBBE5972EF9}" srcOrd="1" destOrd="0" parTransId="{062AFE08-75CD-488F-8721-8C5DD998FEFF}" sibTransId="{E756676A-FC27-4975-9AF0-A0173436395E}"/>
    <dgm:cxn modelId="{C36C9C8B-EF2A-48AA-A6EB-9F7FD79C9D4F}" type="presOf" srcId="{B5F01DBF-6368-491C-BFEE-5DBBE5972EF9}" destId="{189DD257-B842-4CFC-AB55-F4FB44FFB773}" srcOrd="0" destOrd="0" presId="urn:microsoft.com/office/officeart/2018/5/layout/IconCircleLabelList"/>
    <dgm:cxn modelId="{53EB5EBD-8D3F-4B0E-8F6D-DAABD1588812}" type="presOf" srcId="{655CA1E9-D13D-4CA7-8A23-C4F9B552199A}" destId="{F7E3C477-B131-4E0A-9C3B-1C74157429EE}" srcOrd="0" destOrd="0" presId="urn:microsoft.com/office/officeart/2018/5/layout/IconCircleLabelList"/>
    <dgm:cxn modelId="{70D2CFC7-75AE-4B84-9D46-E709B66B6051}" type="presOf" srcId="{16653E9E-9C38-4FDD-BA5F-0F70F360D77F}" destId="{6529CAF6-DA83-4725-B0F0-3963E57BE280}" srcOrd="0" destOrd="0" presId="urn:microsoft.com/office/officeart/2018/5/layout/IconCircleLabelList"/>
    <dgm:cxn modelId="{AB3831C9-087E-4975-AF37-BB6D6874CA0E}" type="presOf" srcId="{C3C8FA5D-2342-4BDC-9DDF-687C4C089D55}" destId="{ED2F62C4-D790-4C7D-A62A-7F497771A3EB}" srcOrd="0" destOrd="0" presId="urn:microsoft.com/office/officeart/2018/5/layout/IconCircleLabelList"/>
    <dgm:cxn modelId="{B64D7ECB-B41F-4CF9-B3C4-1F9B5499E3E8}" srcId="{16653E9E-9C38-4FDD-BA5F-0F70F360D77F}" destId="{C3C8FA5D-2342-4BDC-9DDF-687C4C089D55}" srcOrd="3" destOrd="0" parTransId="{C45576FE-FBC8-4E22-AA1F-655A80EB4A0C}" sibTransId="{280B6158-1541-474B-8CDB-E86297DC1E1A}"/>
    <dgm:cxn modelId="{50432BE8-418D-465D-BC2E-986CE7D35562}" type="presOf" srcId="{0C788C8A-856C-4A16-A5DD-EAA8C8B650BA}" destId="{8F68A4CF-3892-4C5D-8E47-528E88374579}" srcOrd="0" destOrd="0" presId="urn:microsoft.com/office/officeart/2018/5/layout/IconCircleLabelList"/>
    <dgm:cxn modelId="{433DD4E8-14EA-4C4E-8E18-A4FFED914F70}" srcId="{16653E9E-9C38-4FDD-BA5F-0F70F360D77F}" destId="{04D37D0E-6405-46DA-8AF1-CA169B68C666}" srcOrd="2" destOrd="0" parTransId="{481C23B9-E079-44E0-84A6-16E939CD5A3D}" sibTransId="{44F95F37-AB11-4FA0-A315-615B4C2F4B68}"/>
    <dgm:cxn modelId="{B8005BED-9ADB-472E-B518-400714DC1DAC}" srcId="{16653E9E-9C38-4FDD-BA5F-0F70F360D77F}" destId="{0C788C8A-856C-4A16-A5DD-EAA8C8B650BA}" srcOrd="4" destOrd="0" parTransId="{356A73AE-A81B-4191-B0D1-58E39892B51E}" sibTransId="{15DF409A-11EC-4B62-991A-80AB9201C497}"/>
    <dgm:cxn modelId="{BD481BF8-F255-4CD7-A80E-407B2B6C7D5D}" type="presOf" srcId="{04D37D0E-6405-46DA-8AF1-CA169B68C666}" destId="{7D2AA9D4-9A53-44B5-A36E-010B9D5941D6}" srcOrd="0" destOrd="0" presId="urn:microsoft.com/office/officeart/2018/5/layout/IconCircleLabelList"/>
    <dgm:cxn modelId="{A18CBC0C-CE9E-4627-ACE8-D5B1810D7CCC}" type="presParOf" srcId="{6529CAF6-DA83-4725-B0F0-3963E57BE280}" destId="{89D523C7-68D0-4049-8CD8-36A6D4F4F4FA}" srcOrd="0" destOrd="0" presId="urn:microsoft.com/office/officeart/2018/5/layout/IconCircleLabelList"/>
    <dgm:cxn modelId="{D8EFD704-DBC8-4266-876A-3E9E4577BDF0}" type="presParOf" srcId="{89D523C7-68D0-4049-8CD8-36A6D4F4F4FA}" destId="{62A90939-3C6F-43B6-93AF-3F16839CFB26}" srcOrd="0" destOrd="0" presId="urn:microsoft.com/office/officeart/2018/5/layout/IconCircleLabelList"/>
    <dgm:cxn modelId="{C5C1C781-DDC0-49B1-BC65-AD41F512FC22}" type="presParOf" srcId="{89D523C7-68D0-4049-8CD8-36A6D4F4F4FA}" destId="{18E2D558-53E8-4E0C-873C-E52C205DB657}" srcOrd="1" destOrd="0" presId="urn:microsoft.com/office/officeart/2018/5/layout/IconCircleLabelList"/>
    <dgm:cxn modelId="{C703AFBD-E8AD-4EE5-BCC4-5E9877D297FC}" type="presParOf" srcId="{89D523C7-68D0-4049-8CD8-36A6D4F4F4FA}" destId="{7CC8D0E3-CBE2-4AAD-9A07-ED59425D04EC}" srcOrd="2" destOrd="0" presId="urn:microsoft.com/office/officeart/2018/5/layout/IconCircleLabelList"/>
    <dgm:cxn modelId="{B3E525A8-128C-4C57-8216-4AFBF99C961B}" type="presParOf" srcId="{89D523C7-68D0-4049-8CD8-36A6D4F4F4FA}" destId="{F7E3C477-B131-4E0A-9C3B-1C74157429EE}" srcOrd="3" destOrd="0" presId="urn:microsoft.com/office/officeart/2018/5/layout/IconCircleLabelList"/>
    <dgm:cxn modelId="{1E6BA353-15A0-4DC4-BCD1-52407C8FB6C1}" type="presParOf" srcId="{6529CAF6-DA83-4725-B0F0-3963E57BE280}" destId="{E6780ADC-5D76-4917-8052-9FC0D606F91A}" srcOrd="1" destOrd="0" presId="urn:microsoft.com/office/officeart/2018/5/layout/IconCircleLabelList"/>
    <dgm:cxn modelId="{02FFA990-047B-4DD8-9FE8-EEC683FE4E12}" type="presParOf" srcId="{6529CAF6-DA83-4725-B0F0-3963E57BE280}" destId="{201308F5-0954-4807-A58F-07F0523FE3D5}" srcOrd="2" destOrd="0" presId="urn:microsoft.com/office/officeart/2018/5/layout/IconCircleLabelList"/>
    <dgm:cxn modelId="{73572E15-FA27-4550-8053-DFAF51DBCDB6}" type="presParOf" srcId="{201308F5-0954-4807-A58F-07F0523FE3D5}" destId="{B6B43935-D242-47B8-AEB2-BCB09EED9644}" srcOrd="0" destOrd="0" presId="urn:microsoft.com/office/officeart/2018/5/layout/IconCircleLabelList"/>
    <dgm:cxn modelId="{DCAD095F-809F-4DB1-9BC7-F331E2FCEEBA}" type="presParOf" srcId="{201308F5-0954-4807-A58F-07F0523FE3D5}" destId="{854BA910-CB77-47C0-81B0-392A455F8F99}" srcOrd="1" destOrd="0" presId="urn:microsoft.com/office/officeart/2018/5/layout/IconCircleLabelList"/>
    <dgm:cxn modelId="{F6111B3B-2877-4C3D-9C83-51E715E09E1D}" type="presParOf" srcId="{201308F5-0954-4807-A58F-07F0523FE3D5}" destId="{5B8F2231-B705-48B1-82A7-C4376F7D38AF}" srcOrd="2" destOrd="0" presId="urn:microsoft.com/office/officeart/2018/5/layout/IconCircleLabelList"/>
    <dgm:cxn modelId="{52A30A01-AD85-4210-93EF-E74365226040}" type="presParOf" srcId="{201308F5-0954-4807-A58F-07F0523FE3D5}" destId="{189DD257-B842-4CFC-AB55-F4FB44FFB773}" srcOrd="3" destOrd="0" presId="urn:microsoft.com/office/officeart/2018/5/layout/IconCircleLabelList"/>
    <dgm:cxn modelId="{82BA809D-4170-450A-B8FD-414BD79C393D}" type="presParOf" srcId="{6529CAF6-DA83-4725-B0F0-3963E57BE280}" destId="{2E8223B8-DD83-4D03-8E3A-F8E9A5A2A3B0}" srcOrd="3" destOrd="0" presId="urn:microsoft.com/office/officeart/2018/5/layout/IconCircleLabelList"/>
    <dgm:cxn modelId="{FC98ECEA-B376-4D16-89EB-E70B8DFBB426}" type="presParOf" srcId="{6529CAF6-DA83-4725-B0F0-3963E57BE280}" destId="{6F9F25C0-D24B-4312-AE59-4F9659542036}" srcOrd="4" destOrd="0" presId="urn:microsoft.com/office/officeart/2018/5/layout/IconCircleLabelList"/>
    <dgm:cxn modelId="{12C62FA7-CAD2-4C1E-AFD7-5E44B11C66FC}" type="presParOf" srcId="{6F9F25C0-D24B-4312-AE59-4F9659542036}" destId="{7192391D-5C34-4916-84C0-DCD45128D3B6}" srcOrd="0" destOrd="0" presId="urn:microsoft.com/office/officeart/2018/5/layout/IconCircleLabelList"/>
    <dgm:cxn modelId="{BB459B87-0CBB-472D-AB0C-A2834D228AE1}" type="presParOf" srcId="{6F9F25C0-D24B-4312-AE59-4F9659542036}" destId="{1DC9A6E8-0168-40B8-81FA-4A441C76CFD9}" srcOrd="1" destOrd="0" presId="urn:microsoft.com/office/officeart/2018/5/layout/IconCircleLabelList"/>
    <dgm:cxn modelId="{6EA1AEFD-3FBC-48E8-84A6-0A46F33C59AC}" type="presParOf" srcId="{6F9F25C0-D24B-4312-AE59-4F9659542036}" destId="{90B7806C-F343-4FA0-AD43-7A7203862881}" srcOrd="2" destOrd="0" presId="urn:microsoft.com/office/officeart/2018/5/layout/IconCircleLabelList"/>
    <dgm:cxn modelId="{9C8B6580-4237-418B-96FC-AAEFE41E1AB2}" type="presParOf" srcId="{6F9F25C0-D24B-4312-AE59-4F9659542036}" destId="{7D2AA9D4-9A53-44B5-A36E-010B9D5941D6}" srcOrd="3" destOrd="0" presId="urn:microsoft.com/office/officeart/2018/5/layout/IconCircleLabelList"/>
    <dgm:cxn modelId="{8C59BFE5-CC82-48A7-9D86-703322CB13F2}" type="presParOf" srcId="{6529CAF6-DA83-4725-B0F0-3963E57BE280}" destId="{E68FC3CC-F588-4B00-A337-DE31808DC4FA}" srcOrd="5" destOrd="0" presId="urn:microsoft.com/office/officeart/2018/5/layout/IconCircleLabelList"/>
    <dgm:cxn modelId="{AB3B97CB-B9F3-4CFD-8306-F943E76F4DF3}" type="presParOf" srcId="{6529CAF6-DA83-4725-B0F0-3963E57BE280}" destId="{47065681-A94F-464A-8015-00ACB8EFF550}" srcOrd="6" destOrd="0" presId="urn:microsoft.com/office/officeart/2018/5/layout/IconCircleLabelList"/>
    <dgm:cxn modelId="{4C2C8159-14BE-405C-A792-ED7C801E1C2D}" type="presParOf" srcId="{47065681-A94F-464A-8015-00ACB8EFF550}" destId="{DDD43529-A184-4A8E-88FB-4D79A5C1B804}" srcOrd="0" destOrd="0" presId="urn:microsoft.com/office/officeart/2018/5/layout/IconCircleLabelList"/>
    <dgm:cxn modelId="{4A2883DA-007B-4240-9C9F-159C9F70C2CF}" type="presParOf" srcId="{47065681-A94F-464A-8015-00ACB8EFF550}" destId="{9BE74987-BC5A-4A53-9B71-ACE582B63E66}" srcOrd="1" destOrd="0" presId="urn:microsoft.com/office/officeart/2018/5/layout/IconCircleLabelList"/>
    <dgm:cxn modelId="{444B2989-EE67-4099-A484-9AC4902E18F2}" type="presParOf" srcId="{47065681-A94F-464A-8015-00ACB8EFF550}" destId="{72F7085C-4152-42DF-BAA6-99E4E2C9E7BA}" srcOrd="2" destOrd="0" presId="urn:microsoft.com/office/officeart/2018/5/layout/IconCircleLabelList"/>
    <dgm:cxn modelId="{CA99E03A-D93E-4DA4-AAE6-F8F94D38B6B9}" type="presParOf" srcId="{47065681-A94F-464A-8015-00ACB8EFF550}" destId="{ED2F62C4-D790-4C7D-A62A-7F497771A3EB}" srcOrd="3" destOrd="0" presId="urn:microsoft.com/office/officeart/2018/5/layout/IconCircleLabelList"/>
    <dgm:cxn modelId="{D1E24295-F72A-4426-87E1-93E4042FBDAE}" type="presParOf" srcId="{6529CAF6-DA83-4725-B0F0-3963E57BE280}" destId="{362445CA-11D3-4781-A201-E5ECFE100C0D}" srcOrd="7" destOrd="0" presId="urn:microsoft.com/office/officeart/2018/5/layout/IconCircleLabelList"/>
    <dgm:cxn modelId="{923DC4D5-EB5D-4986-9853-0C0D20687E26}" type="presParOf" srcId="{6529CAF6-DA83-4725-B0F0-3963E57BE280}" destId="{8AE57AE1-02CB-4B09-941E-256F65FD2BAC}" srcOrd="8" destOrd="0" presId="urn:microsoft.com/office/officeart/2018/5/layout/IconCircleLabelList"/>
    <dgm:cxn modelId="{86040EF6-A908-43F2-9F2D-34ED37662479}" type="presParOf" srcId="{8AE57AE1-02CB-4B09-941E-256F65FD2BAC}" destId="{C970E7A2-E0E1-47A2-A4E7-5BE67B329261}" srcOrd="0" destOrd="0" presId="urn:microsoft.com/office/officeart/2018/5/layout/IconCircleLabelList"/>
    <dgm:cxn modelId="{928E3B5A-E073-47D3-9875-6F46824B7EAE}" type="presParOf" srcId="{8AE57AE1-02CB-4B09-941E-256F65FD2BAC}" destId="{B392BEB3-E6F7-4332-A73F-5AF5C8C247E0}" srcOrd="1" destOrd="0" presId="urn:microsoft.com/office/officeart/2018/5/layout/IconCircleLabelList"/>
    <dgm:cxn modelId="{1A5507D9-BFC4-448E-AB63-C5828CAC70D8}" type="presParOf" srcId="{8AE57AE1-02CB-4B09-941E-256F65FD2BAC}" destId="{588DC380-5FF6-4A59-B9B2-0FA6034C29C0}" srcOrd="2" destOrd="0" presId="urn:microsoft.com/office/officeart/2018/5/layout/IconCircleLabelList"/>
    <dgm:cxn modelId="{7852648F-5838-4786-8943-905CB13F84AE}" type="presParOf" srcId="{8AE57AE1-02CB-4B09-941E-256F65FD2BAC}" destId="{8F68A4CF-3892-4C5D-8E47-528E88374579}"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63787E-6CF8-4850-8A88-10FF59E102E7}"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88BCD496-84D9-4E6E-A008-5FB7600D405D}">
      <dgm:prSet/>
      <dgm:spPr/>
      <dgm:t>
        <a:bodyPr/>
        <a:lstStyle/>
        <a:p>
          <a:r>
            <a:rPr lang="en-GB" i="0"/>
            <a:t>Technical Expertise: Statistics, calculus, linear algebra, programming (Python, R), machine learning frameworks (TensorFlow, PyTorch).</a:t>
          </a:r>
          <a:endParaRPr lang="en-US"/>
        </a:p>
      </dgm:t>
    </dgm:pt>
    <dgm:pt modelId="{61C0ED8B-0D62-4E7D-BF68-B0C829C88992}" type="parTrans" cxnId="{C2C16048-3C37-4F40-8E41-F7FD34CE81FE}">
      <dgm:prSet/>
      <dgm:spPr/>
      <dgm:t>
        <a:bodyPr/>
        <a:lstStyle/>
        <a:p>
          <a:endParaRPr lang="en-US"/>
        </a:p>
      </dgm:t>
    </dgm:pt>
    <dgm:pt modelId="{E79EF067-B115-4367-9078-343437DDB629}" type="sibTrans" cxnId="{C2C16048-3C37-4F40-8E41-F7FD34CE81FE}">
      <dgm:prSet/>
      <dgm:spPr/>
      <dgm:t>
        <a:bodyPr/>
        <a:lstStyle/>
        <a:p>
          <a:endParaRPr lang="en-US"/>
        </a:p>
      </dgm:t>
    </dgm:pt>
    <dgm:pt modelId="{E2A379D0-0233-4AC3-8906-E08457AF6B55}">
      <dgm:prSet/>
      <dgm:spPr/>
      <dgm:t>
        <a:bodyPr/>
        <a:lstStyle/>
        <a:p>
          <a:r>
            <a:rPr lang="en-GB" i="0"/>
            <a:t>Soft Skills: Communication, problem-solving, critical thinking, collaboration, ethical considerations.</a:t>
          </a:r>
          <a:endParaRPr lang="en-US"/>
        </a:p>
      </dgm:t>
    </dgm:pt>
    <dgm:pt modelId="{97A64C02-9D45-4285-A3E0-0818C083F5D8}" type="parTrans" cxnId="{3B7FF67F-0A69-4077-A549-41FC538FD652}">
      <dgm:prSet/>
      <dgm:spPr/>
      <dgm:t>
        <a:bodyPr/>
        <a:lstStyle/>
        <a:p>
          <a:endParaRPr lang="en-US"/>
        </a:p>
      </dgm:t>
    </dgm:pt>
    <dgm:pt modelId="{5C8EB821-819A-4266-A8B5-E424B3AC0460}" type="sibTrans" cxnId="{3B7FF67F-0A69-4077-A549-41FC538FD652}">
      <dgm:prSet/>
      <dgm:spPr/>
      <dgm:t>
        <a:bodyPr/>
        <a:lstStyle/>
        <a:p>
          <a:endParaRPr lang="en-US"/>
        </a:p>
      </dgm:t>
    </dgm:pt>
    <dgm:pt modelId="{55B6ED02-CA77-4794-8114-E2C569CF81F9}">
      <dgm:prSet/>
      <dgm:spPr/>
      <dgm:t>
        <a:bodyPr/>
        <a:lstStyle/>
        <a:p>
          <a:r>
            <a:rPr lang="en-GB" i="0"/>
            <a:t>Industry Knowledge: Gain specialization in your chosen domain (e.g., healthcare, finance, security) for deeper impact.</a:t>
          </a:r>
          <a:endParaRPr lang="en-US"/>
        </a:p>
      </dgm:t>
    </dgm:pt>
    <dgm:pt modelId="{2A9D86C2-1263-4A84-9B49-E76CE656FBBA}" type="parTrans" cxnId="{82877392-7C52-44C2-998E-4E7A16FE3C40}">
      <dgm:prSet/>
      <dgm:spPr/>
      <dgm:t>
        <a:bodyPr/>
        <a:lstStyle/>
        <a:p>
          <a:endParaRPr lang="en-US"/>
        </a:p>
      </dgm:t>
    </dgm:pt>
    <dgm:pt modelId="{FC4D8839-C0BD-4D68-9B36-64E9E1950369}" type="sibTrans" cxnId="{82877392-7C52-44C2-998E-4E7A16FE3C40}">
      <dgm:prSet/>
      <dgm:spPr/>
      <dgm:t>
        <a:bodyPr/>
        <a:lstStyle/>
        <a:p>
          <a:endParaRPr lang="en-US"/>
        </a:p>
      </dgm:t>
    </dgm:pt>
    <dgm:pt modelId="{0E32860A-25F0-4ABD-A8A2-EA6EB86936F6}" type="pres">
      <dgm:prSet presAssocID="{DD63787E-6CF8-4850-8A88-10FF59E102E7}" presName="root" presStyleCnt="0">
        <dgm:presLayoutVars>
          <dgm:dir/>
          <dgm:resizeHandles val="exact"/>
        </dgm:presLayoutVars>
      </dgm:prSet>
      <dgm:spPr/>
    </dgm:pt>
    <dgm:pt modelId="{375DA94B-BF8E-4E0F-ACE6-480210836060}" type="pres">
      <dgm:prSet presAssocID="{88BCD496-84D9-4E6E-A008-5FB7600D405D}" presName="compNode" presStyleCnt="0"/>
      <dgm:spPr/>
    </dgm:pt>
    <dgm:pt modelId="{271D97CD-F94F-46D5-BDA6-E8196219E9AF}" type="pres">
      <dgm:prSet presAssocID="{88BCD496-84D9-4E6E-A008-5FB7600D405D}" presName="bgRect" presStyleLbl="bgShp" presStyleIdx="0" presStyleCnt="3"/>
      <dgm:spPr/>
    </dgm:pt>
    <dgm:pt modelId="{0949AB10-EC8A-4899-B2BB-2D4A85642E77}" type="pres">
      <dgm:prSet presAssocID="{88BCD496-84D9-4E6E-A008-5FB7600D405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thematics"/>
        </a:ext>
      </dgm:extLst>
    </dgm:pt>
    <dgm:pt modelId="{FD4F8F75-8ED8-4811-89DA-16EE53C7B092}" type="pres">
      <dgm:prSet presAssocID="{88BCD496-84D9-4E6E-A008-5FB7600D405D}" presName="spaceRect" presStyleCnt="0"/>
      <dgm:spPr/>
    </dgm:pt>
    <dgm:pt modelId="{339F6F43-6CDE-405E-A6E6-06E5A91864C7}" type="pres">
      <dgm:prSet presAssocID="{88BCD496-84D9-4E6E-A008-5FB7600D405D}" presName="parTx" presStyleLbl="revTx" presStyleIdx="0" presStyleCnt="3">
        <dgm:presLayoutVars>
          <dgm:chMax val="0"/>
          <dgm:chPref val="0"/>
        </dgm:presLayoutVars>
      </dgm:prSet>
      <dgm:spPr/>
    </dgm:pt>
    <dgm:pt modelId="{F8769DBE-1BB6-4B36-AEF1-59447A8D5B72}" type="pres">
      <dgm:prSet presAssocID="{E79EF067-B115-4367-9078-343437DDB629}" presName="sibTrans" presStyleCnt="0"/>
      <dgm:spPr/>
    </dgm:pt>
    <dgm:pt modelId="{7B613A70-EADF-4637-BC20-AD1208E4D184}" type="pres">
      <dgm:prSet presAssocID="{E2A379D0-0233-4AC3-8906-E08457AF6B55}" presName="compNode" presStyleCnt="0"/>
      <dgm:spPr/>
    </dgm:pt>
    <dgm:pt modelId="{A97396B9-00D2-45A0-9817-96F4B7E87B0F}" type="pres">
      <dgm:prSet presAssocID="{E2A379D0-0233-4AC3-8906-E08457AF6B55}" presName="bgRect" presStyleLbl="bgShp" presStyleIdx="1" presStyleCnt="3"/>
      <dgm:spPr/>
    </dgm:pt>
    <dgm:pt modelId="{F742C4CD-1D06-455E-9AAF-15A8BD4E27EE}" type="pres">
      <dgm:prSet presAssocID="{E2A379D0-0233-4AC3-8906-E08457AF6B5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D28446BD-63C0-448C-9326-476C5CF3D620}" type="pres">
      <dgm:prSet presAssocID="{E2A379D0-0233-4AC3-8906-E08457AF6B55}" presName="spaceRect" presStyleCnt="0"/>
      <dgm:spPr/>
    </dgm:pt>
    <dgm:pt modelId="{BD243ED2-6A21-4233-8E1A-0A287B976A5D}" type="pres">
      <dgm:prSet presAssocID="{E2A379D0-0233-4AC3-8906-E08457AF6B55}" presName="parTx" presStyleLbl="revTx" presStyleIdx="1" presStyleCnt="3">
        <dgm:presLayoutVars>
          <dgm:chMax val="0"/>
          <dgm:chPref val="0"/>
        </dgm:presLayoutVars>
      </dgm:prSet>
      <dgm:spPr/>
    </dgm:pt>
    <dgm:pt modelId="{EB640C99-B6B5-4C0F-AD79-1B2DE63A11BE}" type="pres">
      <dgm:prSet presAssocID="{5C8EB821-819A-4266-A8B5-E424B3AC0460}" presName="sibTrans" presStyleCnt="0"/>
      <dgm:spPr/>
    </dgm:pt>
    <dgm:pt modelId="{8089A251-377D-401C-9EE8-1D8798027E1C}" type="pres">
      <dgm:prSet presAssocID="{55B6ED02-CA77-4794-8114-E2C569CF81F9}" presName="compNode" presStyleCnt="0"/>
      <dgm:spPr/>
    </dgm:pt>
    <dgm:pt modelId="{7D257846-396C-4F68-A2AA-592C15789E40}" type="pres">
      <dgm:prSet presAssocID="{55B6ED02-CA77-4794-8114-E2C569CF81F9}" presName="bgRect" presStyleLbl="bgShp" presStyleIdx="2" presStyleCnt="3"/>
      <dgm:spPr/>
    </dgm:pt>
    <dgm:pt modelId="{5B755B74-DFC7-40E9-BAA1-AAF56D711B6C}" type="pres">
      <dgm:prSet presAssocID="{55B6ED02-CA77-4794-8114-E2C569CF81F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erson with Idea"/>
        </a:ext>
      </dgm:extLst>
    </dgm:pt>
    <dgm:pt modelId="{4929E4E4-8618-41D0-BE72-1D061E926766}" type="pres">
      <dgm:prSet presAssocID="{55B6ED02-CA77-4794-8114-E2C569CF81F9}" presName="spaceRect" presStyleCnt="0"/>
      <dgm:spPr/>
    </dgm:pt>
    <dgm:pt modelId="{7B5B570B-5156-4D58-88EA-7F6505EB6369}" type="pres">
      <dgm:prSet presAssocID="{55B6ED02-CA77-4794-8114-E2C569CF81F9}" presName="parTx" presStyleLbl="revTx" presStyleIdx="2" presStyleCnt="3">
        <dgm:presLayoutVars>
          <dgm:chMax val="0"/>
          <dgm:chPref val="0"/>
        </dgm:presLayoutVars>
      </dgm:prSet>
      <dgm:spPr/>
    </dgm:pt>
  </dgm:ptLst>
  <dgm:cxnLst>
    <dgm:cxn modelId="{9ED8061E-EA89-4C4E-A902-EF2554FC7721}" type="presOf" srcId="{E2A379D0-0233-4AC3-8906-E08457AF6B55}" destId="{BD243ED2-6A21-4233-8E1A-0A287B976A5D}" srcOrd="0" destOrd="0" presId="urn:microsoft.com/office/officeart/2018/2/layout/IconVerticalSolidList"/>
    <dgm:cxn modelId="{C2C16048-3C37-4F40-8E41-F7FD34CE81FE}" srcId="{DD63787E-6CF8-4850-8A88-10FF59E102E7}" destId="{88BCD496-84D9-4E6E-A008-5FB7600D405D}" srcOrd="0" destOrd="0" parTransId="{61C0ED8B-0D62-4E7D-BF68-B0C829C88992}" sibTransId="{E79EF067-B115-4367-9078-343437DDB629}"/>
    <dgm:cxn modelId="{7092CE50-DEB6-4954-8F24-043E0EC550B1}" type="presOf" srcId="{55B6ED02-CA77-4794-8114-E2C569CF81F9}" destId="{7B5B570B-5156-4D58-88EA-7F6505EB6369}" srcOrd="0" destOrd="0" presId="urn:microsoft.com/office/officeart/2018/2/layout/IconVerticalSolidList"/>
    <dgm:cxn modelId="{3B7FF67F-0A69-4077-A549-41FC538FD652}" srcId="{DD63787E-6CF8-4850-8A88-10FF59E102E7}" destId="{E2A379D0-0233-4AC3-8906-E08457AF6B55}" srcOrd="1" destOrd="0" parTransId="{97A64C02-9D45-4285-A3E0-0818C083F5D8}" sibTransId="{5C8EB821-819A-4266-A8B5-E424B3AC0460}"/>
    <dgm:cxn modelId="{82877392-7C52-44C2-998E-4E7A16FE3C40}" srcId="{DD63787E-6CF8-4850-8A88-10FF59E102E7}" destId="{55B6ED02-CA77-4794-8114-E2C569CF81F9}" srcOrd="2" destOrd="0" parTransId="{2A9D86C2-1263-4A84-9B49-E76CE656FBBA}" sibTransId="{FC4D8839-C0BD-4D68-9B36-64E9E1950369}"/>
    <dgm:cxn modelId="{F18FDDCE-2C9C-4F1B-9FA7-98D361847A4C}" type="presOf" srcId="{DD63787E-6CF8-4850-8A88-10FF59E102E7}" destId="{0E32860A-25F0-4ABD-A8A2-EA6EB86936F6}" srcOrd="0" destOrd="0" presId="urn:microsoft.com/office/officeart/2018/2/layout/IconVerticalSolidList"/>
    <dgm:cxn modelId="{2601A9F8-8675-4F91-85B6-B471F83FB752}" type="presOf" srcId="{88BCD496-84D9-4E6E-A008-5FB7600D405D}" destId="{339F6F43-6CDE-405E-A6E6-06E5A91864C7}" srcOrd="0" destOrd="0" presId="urn:microsoft.com/office/officeart/2018/2/layout/IconVerticalSolidList"/>
    <dgm:cxn modelId="{45941632-000B-4FCD-9E0B-56037CB69255}" type="presParOf" srcId="{0E32860A-25F0-4ABD-A8A2-EA6EB86936F6}" destId="{375DA94B-BF8E-4E0F-ACE6-480210836060}" srcOrd="0" destOrd="0" presId="urn:microsoft.com/office/officeart/2018/2/layout/IconVerticalSolidList"/>
    <dgm:cxn modelId="{3610B7BA-6422-4F0F-97F5-25F24EBB007F}" type="presParOf" srcId="{375DA94B-BF8E-4E0F-ACE6-480210836060}" destId="{271D97CD-F94F-46D5-BDA6-E8196219E9AF}" srcOrd="0" destOrd="0" presId="urn:microsoft.com/office/officeart/2018/2/layout/IconVerticalSolidList"/>
    <dgm:cxn modelId="{0FCB1DDE-70EB-4C47-9A4F-F14E6B28B988}" type="presParOf" srcId="{375DA94B-BF8E-4E0F-ACE6-480210836060}" destId="{0949AB10-EC8A-4899-B2BB-2D4A85642E77}" srcOrd="1" destOrd="0" presId="urn:microsoft.com/office/officeart/2018/2/layout/IconVerticalSolidList"/>
    <dgm:cxn modelId="{421C057A-4C37-4C71-BDAA-7ED4B0B43FCB}" type="presParOf" srcId="{375DA94B-BF8E-4E0F-ACE6-480210836060}" destId="{FD4F8F75-8ED8-4811-89DA-16EE53C7B092}" srcOrd="2" destOrd="0" presId="urn:microsoft.com/office/officeart/2018/2/layout/IconVerticalSolidList"/>
    <dgm:cxn modelId="{56E531CD-5FBF-4BBB-AD07-86D27D0F8703}" type="presParOf" srcId="{375DA94B-BF8E-4E0F-ACE6-480210836060}" destId="{339F6F43-6CDE-405E-A6E6-06E5A91864C7}" srcOrd="3" destOrd="0" presId="urn:microsoft.com/office/officeart/2018/2/layout/IconVerticalSolidList"/>
    <dgm:cxn modelId="{5FA4D70A-599F-41CD-BFA7-B1021BEC029B}" type="presParOf" srcId="{0E32860A-25F0-4ABD-A8A2-EA6EB86936F6}" destId="{F8769DBE-1BB6-4B36-AEF1-59447A8D5B72}" srcOrd="1" destOrd="0" presId="urn:microsoft.com/office/officeart/2018/2/layout/IconVerticalSolidList"/>
    <dgm:cxn modelId="{313BBBD5-1AA2-454F-9AF7-97F0CDBFB146}" type="presParOf" srcId="{0E32860A-25F0-4ABD-A8A2-EA6EB86936F6}" destId="{7B613A70-EADF-4637-BC20-AD1208E4D184}" srcOrd="2" destOrd="0" presId="urn:microsoft.com/office/officeart/2018/2/layout/IconVerticalSolidList"/>
    <dgm:cxn modelId="{AEE31BCF-3D2D-41E5-823B-860C22B77459}" type="presParOf" srcId="{7B613A70-EADF-4637-BC20-AD1208E4D184}" destId="{A97396B9-00D2-45A0-9817-96F4B7E87B0F}" srcOrd="0" destOrd="0" presId="urn:microsoft.com/office/officeart/2018/2/layout/IconVerticalSolidList"/>
    <dgm:cxn modelId="{EA9E08EE-068F-4FED-A589-C357F25FCD45}" type="presParOf" srcId="{7B613A70-EADF-4637-BC20-AD1208E4D184}" destId="{F742C4CD-1D06-455E-9AAF-15A8BD4E27EE}" srcOrd="1" destOrd="0" presId="urn:microsoft.com/office/officeart/2018/2/layout/IconVerticalSolidList"/>
    <dgm:cxn modelId="{F24A7B8F-0616-43C7-887C-05F50B9EF2E6}" type="presParOf" srcId="{7B613A70-EADF-4637-BC20-AD1208E4D184}" destId="{D28446BD-63C0-448C-9326-476C5CF3D620}" srcOrd="2" destOrd="0" presId="urn:microsoft.com/office/officeart/2018/2/layout/IconVerticalSolidList"/>
    <dgm:cxn modelId="{37B44962-40D7-47F6-8D74-1243F6B8B14B}" type="presParOf" srcId="{7B613A70-EADF-4637-BC20-AD1208E4D184}" destId="{BD243ED2-6A21-4233-8E1A-0A287B976A5D}" srcOrd="3" destOrd="0" presId="urn:microsoft.com/office/officeart/2018/2/layout/IconVerticalSolidList"/>
    <dgm:cxn modelId="{4C7552AE-CA84-4B80-912B-B79BE288FE7A}" type="presParOf" srcId="{0E32860A-25F0-4ABD-A8A2-EA6EB86936F6}" destId="{EB640C99-B6B5-4C0F-AD79-1B2DE63A11BE}" srcOrd="3" destOrd="0" presId="urn:microsoft.com/office/officeart/2018/2/layout/IconVerticalSolidList"/>
    <dgm:cxn modelId="{FFE06245-0757-48C7-AC06-1F6DED35653F}" type="presParOf" srcId="{0E32860A-25F0-4ABD-A8A2-EA6EB86936F6}" destId="{8089A251-377D-401C-9EE8-1D8798027E1C}" srcOrd="4" destOrd="0" presId="urn:microsoft.com/office/officeart/2018/2/layout/IconVerticalSolidList"/>
    <dgm:cxn modelId="{2E5AD198-5488-410F-9432-A337BE615C61}" type="presParOf" srcId="{8089A251-377D-401C-9EE8-1D8798027E1C}" destId="{7D257846-396C-4F68-A2AA-592C15789E40}" srcOrd="0" destOrd="0" presId="urn:microsoft.com/office/officeart/2018/2/layout/IconVerticalSolidList"/>
    <dgm:cxn modelId="{B5DDAEB3-F735-4708-976C-8F690064D017}" type="presParOf" srcId="{8089A251-377D-401C-9EE8-1D8798027E1C}" destId="{5B755B74-DFC7-40E9-BAA1-AAF56D711B6C}" srcOrd="1" destOrd="0" presId="urn:microsoft.com/office/officeart/2018/2/layout/IconVerticalSolidList"/>
    <dgm:cxn modelId="{E573EC6E-D9A3-4F92-AC3A-0208A2F13F7A}" type="presParOf" srcId="{8089A251-377D-401C-9EE8-1D8798027E1C}" destId="{4929E4E4-8618-41D0-BE72-1D061E926766}" srcOrd="2" destOrd="0" presId="urn:microsoft.com/office/officeart/2018/2/layout/IconVerticalSolidList"/>
    <dgm:cxn modelId="{02E6CE0D-A5CA-4F8A-9433-A1CCE84A43A6}" type="presParOf" srcId="{8089A251-377D-401C-9EE8-1D8798027E1C}" destId="{7B5B570B-5156-4D58-88EA-7F6505EB636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A90939-3C6F-43B6-93AF-3F16839CFB26}">
      <dsp:nvSpPr>
        <dsp:cNvPr id="0" name=""/>
        <dsp:cNvSpPr/>
      </dsp:nvSpPr>
      <dsp:spPr>
        <a:xfrm>
          <a:off x="478800" y="953625"/>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E2D558-53E8-4E0C-873C-E52C205DB657}">
      <dsp:nvSpPr>
        <dsp:cNvPr id="0" name=""/>
        <dsp:cNvSpPr/>
      </dsp:nvSpPr>
      <dsp:spPr>
        <a:xfrm>
          <a:off x="712800" y="1187625"/>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E3C477-B131-4E0A-9C3B-1C74157429EE}">
      <dsp:nvSpPr>
        <dsp:cNvPr id="0" name=""/>
        <dsp:cNvSpPr/>
      </dsp:nvSpPr>
      <dsp:spPr>
        <a:xfrm>
          <a:off x="127800" y="2393625"/>
          <a:ext cx="1800000" cy="1005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Data Scientist: Analyzes complex data to derive insights and build predictive models.</a:t>
          </a:r>
        </a:p>
      </dsp:txBody>
      <dsp:txXfrm>
        <a:off x="127800" y="2393625"/>
        <a:ext cx="1800000" cy="1005292"/>
      </dsp:txXfrm>
    </dsp:sp>
    <dsp:sp modelId="{B6B43935-D242-47B8-AEB2-BCB09EED9644}">
      <dsp:nvSpPr>
        <dsp:cNvPr id="0" name=""/>
        <dsp:cNvSpPr/>
      </dsp:nvSpPr>
      <dsp:spPr>
        <a:xfrm>
          <a:off x="2593800" y="953625"/>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4BA910-CB77-47C0-81B0-392A455F8F99}">
      <dsp:nvSpPr>
        <dsp:cNvPr id="0" name=""/>
        <dsp:cNvSpPr/>
      </dsp:nvSpPr>
      <dsp:spPr>
        <a:xfrm>
          <a:off x="2827800" y="1187625"/>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9DD257-B842-4CFC-AB55-F4FB44FFB773}">
      <dsp:nvSpPr>
        <dsp:cNvPr id="0" name=""/>
        <dsp:cNvSpPr/>
      </dsp:nvSpPr>
      <dsp:spPr>
        <a:xfrm>
          <a:off x="2242800" y="2393625"/>
          <a:ext cx="1800000" cy="1005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Machine Learning Engineer: Develops ML algorithms and deploys them into production systems.</a:t>
          </a:r>
        </a:p>
      </dsp:txBody>
      <dsp:txXfrm>
        <a:off x="2242800" y="2393625"/>
        <a:ext cx="1800000" cy="1005292"/>
      </dsp:txXfrm>
    </dsp:sp>
    <dsp:sp modelId="{7192391D-5C34-4916-84C0-DCD45128D3B6}">
      <dsp:nvSpPr>
        <dsp:cNvPr id="0" name=""/>
        <dsp:cNvSpPr/>
      </dsp:nvSpPr>
      <dsp:spPr>
        <a:xfrm>
          <a:off x="4708800" y="953625"/>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C9A6E8-0168-40B8-81FA-4A441C76CFD9}">
      <dsp:nvSpPr>
        <dsp:cNvPr id="0" name=""/>
        <dsp:cNvSpPr/>
      </dsp:nvSpPr>
      <dsp:spPr>
        <a:xfrm>
          <a:off x="4942800" y="1187625"/>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2AA9D4-9A53-44B5-A36E-010B9D5941D6}">
      <dsp:nvSpPr>
        <dsp:cNvPr id="0" name=""/>
        <dsp:cNvSpPr/>
      </dsp:nvSpPr>
      <dsp:spPr>
        <a:xfrm>
          <a:off x="4357800" y="2393625"/>
          <a:ext cx="1800000" cy="1005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AI Research Scientist: Conducts research to advance the field of AI and develop innovative algorithms.</a:t>
          </a:r>
        </a:p>
      </dsp:txBody>
      <dsp:txXfrm>
        <a:off x="4357800" y="2393625"/>
        <a:ext cx="1800000" cy="1005292"/>
      </dsp:txXfrm>
    </dsp:sp>
    <dsp:sp modelId="{DDD43529-A184-4A8E-88FB-4D79A5C1B804}">
      <dsp:nvSpPr>
        <dsp:cNvPr id="0" name=""/>
        <dsp:cNvSpPr/>
      </dsp:nvSpPr>
      <dsp:spPr>
        <a:xfrm>
          <a:off x="6823800" y="953625"/>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E74987-BC5A-4A53-9B71-ACE582B63E66}">
      <dsp:nvSpPr>
        <dsp:cNvPr id="0" name=""/>
        <dsp:cNvSpPr/>
      </dsp:nvSpPr>
      <dsp:spPr>
        <a:xfrm>
          <a:off x="7057800" y="1187625"/>
          <a:ext cx="630000" cy="630000"/>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2F62C4-D790-4C7D-A62A-7F497771A3EB}">
      <dsp:nvSpPr>
        <dsp:cNvPr id="0" name=""/>
        <dsp:cNvSpPr/>
      </dsp:nvSpPr>
      <dsp:spPr>
        <a:xfrm>
          <a:off x="6472800" y="2393625"/>
          <a:ext cx="1800000" cy="1005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Data Engineer: Designs and builds data pipelines to support ML and AI applications.</a:t>
          </a:r>
        </a:p>
      </dsp:txBody>
      <dsp:txXfrm>
        <a:off x="6472800" y="2393625"/>
        <a:ext cx="1800000" cy="1005292"/>
      </dsp:txXfrm>
    </dsp:sp>
    <dsp:sp modelId="{C970E7A2-E0E1-47A2-A4E7-5BE67B329261}">
      <dsp:nvSpPr>
        <dsp:cNvPr id="0" name=""/>
        <dsp:cNvSpPr/>
      </dsp:nvSpPr>
      <dsp:spPr>
        <a:xfrm>
          <a:off x="8938800" y="953625"/>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92BEB3-E6F7-4332-A73F-5AF5C8C247E0}">
      <dsp:nvSpPr>
        <dsp:cNvPr id="0" name=""/>
        <dsp:cNvSpPr/>
      </dsp:nvSpPr>
      <dsp:spPr>
        <a:xfrm>
          <a:off x="9172800" y="1187625"/>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68A4CF-3892-4C5D-8E47-528E88374579}">
      <dsp:nvSpPr>
        <dsp:cNvPr id="0" name=""/>
        <dsp:cNvSpPr/>
      </dsp:nvSpPr>
      <dsp:spPr>
        <a:xfrm>
          <a:off x="8587800" y="2393625"/>
          <a:ext cx="1800000" cy="1005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AI Product Manager: Oversees the development and implementation of AI-powered products and services.</a:t>
          </a:r>
        </a:p>
      </dsp:txBody>
      <dsp:txXfrm>
        <a:off x="8587800" y="2393625"/>
        <a:ext cx="1800000" cy="1005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1D97CD-F94F-46D5-BDA6-E8196219E9AF}">
      <dsp:nvSpPr>
        <dsp:cNvPr id="0" name=""/>
        <dsp:cNvSpPr/>
      </dsp:nvSpPr>
      <dsp:spPr>
        <a:xfrm>
          <a:off x="0" y="531"/>
          <a:ext cx="10515600" cy="1243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49AB10-EC8A-4899-B2BB-2D4A85642E77}">
      <dsp:nvSpPr>
        <dsp:cNvPr id="0" name=""/>
        <dsp:cNvSpPr/>
      </dsp:nvSpPr>
      <dsp:spPr>
        <a:xfrm>
          <a:off x="376092" y="280269"/>
          <a:ext cx="683804" cy="6838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9F6F43-6CDE-405E-A6E6-06E5A91864C7}">
      <dsp:nvSpPr>
        <dsp:cNvPr id="0" name=""/>
        <dsp:cNvSpPr/>
      </dsp:nvSpPr>
      <dsp:spPr>
        <a:xfrm>
          <a:off x="1435988" y="5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066800">
            <a:lnSpc>
              <a:spcPct val="90000"/>
            </a:lnSpc>
            <a:spcBef>
              <a:spcPct val="0"/>
            </a:spcBef>
            <a:spcAft>
              <a:spcPct val="35000"/>
            </a:spcAft>
            <a:buNone/>
          </a:pPr>
          <a:r>
            <a:rPr lang="en-GB" sz="2400" i="0" kern="1200"/>
            <a:t>Technical Expertise: Statistics, calculus, linear algebra, programming (Python, R), machine learning frameworks (TensorFlow, PyTorch).</a:t>
          </a:r>
          <a:endParaRPr lang="en-US" sz="2400" kern="1200"/>
        </a:p>
      </dsp:txBody>
      <dsp:txXfrm>
        <a:off x="1435988" y="531"/>
        <a:ext cx="9079611" cy="1243280"/>
      </dsp:txXfrm>
    </dsp:sp>
    <dsp:sp modelId="{A97396B9-00D2-45A0-9817-96F4B7E87B0F}">
      <dsp:nvSpPr>
        <dsp:cNvPr id="0" name=""/>
        <dsp:cNvSpPr/>
      </dsp:nvSpPr>
      <dsp:spPr>
        <a:xfrm>
          <a:off x="0" y="1554631"/>
          <a:ext cx="10515600" cy="1243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42C4CD-1D06-455E-9AAF-15A8BD4E27EE}">
      <dsp:nvSpPr>
        <dsp:cNvPr id="0" name=""/>
        <dsp:cNvSpPr/>
      </dsp:nvSpPr>
      <dsp:spPr>
        <a:xfrm>
          <a:off x="376092" y="1834369"/>
          <a:ext cx="683804" cy="6838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243ED2-6A21-4233-8E1A-0A287B976A5D}">
      <dsp:nvSpPr>
        <dsp:cNvPr id="0" name=""/>
        <dsp:cNvSpPr/>
      </dsp:nvSpPr>
      <dsp:spPr>
        <a:xfrm>
          <a:off x="1435988" y="15546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066800">
            <a:lnSpc>
              <a:spcPct val="90000"/>
            </a:lnSpc>
            <a:spcBef>
              <a:spcPct val="0"/>
            </a:spcBef>
            <a:spcAft>
              <a:spcPct val="35000"/>
            </a:spcAft>
            <a:buNone/>
          </a:pPr>
          <a:r>
            <a:rPr lang="en-GB" sz="2400" i="0" kern="1200"/>
            <a:t>Soft Skills: Communication, problem-solving, critical thinking, collaboration, ethical considerations.</a:t>
          </a:r>
          <a:endParaRPr lang="en-US" sz="2400" kern="1200"/>
        </a:p>
      </dsp:txBody>
      <dsp:txXfrm>
        <a:off x="1435988" y="1554631"/>
        <a:ext cx="9079611" cy="1243280"/>
      </dsp:txXfrm>
    </dsp:sp>
    <dsp:sp modelId="{7D257846-396C-4F68-A2AA-592C15789E40}">
      <dsp:nvSpPr>
        <dsp:cNvPr id="0" name=""/>
        <dsp:cNvSpPr/>
      </dsp:nvSpPr>
      <dsp:spPr>
        <a:xfrm>
          <a:off x="0" y="3108732"/>
          <a:ext cx="10515600" cy="1243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755B74-DFC7-40E9-BAA1-AAF56D711B6C}">
      <dsp:nvSpPr>
        <dsp:cNvPr id="0" name=""/>
        <dsp:cNvSpPr/>
      </dsp:nvSpPr>
      <dsp:spPr>
        <a:xfrm>
          <a:off x="376092" y="3388470"/>
          <a:ext cx="683804" cy="6838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5B570B-5156-4D58-88EA-7F6505EB6369}">
      <dsp:nvSpPr>
        <dsp:cNvPr id="0" name=""/>
        <dsp:cNvSpPr/>
      </dsp:nvSpPr>
      <dsp:spPr>
        <a:xfrm>
          <a:off x="1435988" y="3108732"/>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066800">
            <a:lnSpc>
              <a:spcPct val="90000"/>
            </a:lnSpc>
            <a:spcBef>
              <a:spcPct val="0"/>
            </a:spcBef>
            <a:spcAft>
              <a:spcPct val="35000"/>
            </a:spcAft>
            <a:buNone/>
          </a:pPr>
          <a:r>
            <a:rPr lang="en-GB" sz="2400" i="0" kern="1200"/>
            <a:t>Industry Knowledge: Gain specialization in your chosen domain (e.g., healthcare, finance, security) for deeper impact.</a:t>
          </a:r>
          <a:endParaRPr lang="en-US" sz="2400" kern="1200"/>
        </a:p>
      </dsp:txBody>
      <dsp:txXfrm>
        <a:off x="1435988" y="3108732"/>
        <a:ext cx="9079611" cy="124328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r>
              <a:rPr lang="en-US"/>
              <a:t>10/16/2019</a:t>
            </a:r>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r>
              <a:rPr lang="en-US"/>
              <a:t>Youssef A. Khattab</a:t>
            </a:r>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3EBC1D5-B3EF-4A13-8CDE-7F28DE69B96C}" type="slidenum">
              <a:rPr lang="en-US" smtClean="0"/>
              <a:t>‹#›</a:t>
            </a:fld>
            <a:endParaRPr lang="en-US" dirty="0"/>
          </a:p>
        </p:txBody>
      </p:sp>
    </p:spTree>
    <p:extLst>
      <p:ext uri="{BB962C8B-B14F-4D97-AF65-F5344CB8AC3E}">
        <p14:creationId xmlns:p14="http://schemas.microsoft.com/office/powerpoint/2010/main" val="3759014653"/>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r>
              <a:rPr lang="en-US" noProof="0"/>
              <a:t>10/16/2019</a:t>
            </a:r>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US" noProof="0"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r>
              <a:rPr lang="en-US" noProof="0"/>
              <a:t>Youssef A. Khattab</a:t>
            </a:r>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FD34AC2-3728-4A8B-B58F-6888FAEC3D20}" type="slidenum">
              <a:rPr lang="en-US" noProof="0" smtClean="0"/>
              <a:t>‹#›</a:t>
            </a:fld>
            <a:endParaRPr lang="en-US" noProof="0" dirty="0"/>
          </a:p>
        </p:txBody>
      </p:sp>
    </p:spTree>
    <p:extLst>
      <p:ext uri="{BB962C8B-B14F-4D97-AF65-F5344CB8AC3E}">
        <p14:creationId xmlns:p14="http://schemas.microsoft.com/office/powerpoint/2010/main" val="1086178149"/>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r>
              <a:rPr lang="en-US" dirty="0"/>
              <a:t>Building on yesterday's foundation, today we embark on a deeper exploration of machine learning. We'll delve into supervised and unsupervised learning paradigms, the cornerstones of data-driven prediction and pattern recognition. Prepare to unlock the power of machine learning to make informed decisions based on data!</a:t>
            </a:r>
          </a:p>
          <a:p>
            <a:endParaRPr lang="en-US" dirty="0"/>
          </a:p>
          <a:p>
            <a:pPr rtl="0"/>
            <a:endParaRPr lang="en-US" dirty="0"/>
          </a:p>
        </p:txBody>
      </p:sp>
      <p:sp>
        <p:nvSpPr>
          <p:cNvPr id="6" name="Footer Placeholder 5">
            <a:extLst>
              <a:ext uri="{FF2B5EF4-FFF2-40B4-BE49-F238E27FC236}">
                <a16:creationId xmlns:a16="http://schemas.microsoft.com/office/drawing/2014/main" id="{20D82510-D248-CC89-12B9-3F9E19C733CA}"/>
              </a:ext>
            </a:extLst>
          </p:cNvPr>
          <p:cNvSpPr>
            <a:spLocks noGrp="1"/>
          </p:cNvSpPr>
          <p:nvPr>
            <p:ph type="ftr" sz="quarter" idx="4"/>
          </p:nvPr>
        </p:nvSpPr>
        <p:spPr/>
        <p:txBody>
          <a:bodyPr/>
          <a:lstStyle/>
          <a:p>
            <a:pPr rtl="0"/>
            <a:r>
              <a:rPr lang="en-US" noProof="0"/>
              <a:t>Youssef A. Khattab</a:t>
            </a:r>
            <a:endParaRPr lang="en-US" noProof="0" dirty="0"/>
          </a:p>
        </p:txBody>
      </p:sp>
    </p:spTree>
    <p:extLst>
      <p:ext uri="{BB962C8B-B14F-4D97-AF65-F5344CB8AC3E}">
        <p14:creationId xmlns:p14="http://schemas.microsoft.com/office/powerpoint/2010/main" val="122656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F1F1F"/>
                </a:solidFill>
                <a:effectLst/>
                <a:highlight>
                  <a:srgbClr val="FFFFFF"/>
                </a:highlight>
                <a:latin typeface="Google Sans"/>
              </a:rPr>
              <a:t>Welcome back, everyone! Today, we embark on a deeper exploration of Machine Learning, a crucial component of AI that empowers machines to learn from data without explicit programming. Through this session, we will gain insights into how ML algorithms are trained and utilized for various purposes. Get ready to unlock the secrets of how machines learn and make predictions!</a:t>
            </a:r>
          </a:p>
          <a:p>
            <a:br>
              <a:rPr lang="en-US" dirty="0"/>
            </a:br>
            <a:endParaRPr lang="en-GB" dirty="0"/>
          </a:p>
        </p:txBody>
      </p:sp>
      <p:sp>
        <p:nvSpPr>
          <p:cNvPr id="4" name="Footer Placeholder 3"/>
          <p:cNvSpPr>
            <a:spLocks noGrp="1"/>
          </p:cNvSpPr>
          <p:nvPr>
            <p:ph type="ftr" sz="quarter" idx="4"/>
          </p:nvPr>
        </p:nvSpPr>
        <p:spPr/>
        <p:txBody>
          <a:bodyPr/>
          <a:lstStyle/>
          <a:p>
            <a:pPr rtl="0"/>
            <a:r>
              <a:rPr lang="en-US" noProof="0"/>
              <a:t>Youssef A. Khattab</a:t>
            </a:r>
            <a:endParaRPr lang="en-US" noProof="0" dirty="0"/>
          </a:p>
        </p:txBody>
      </p:sp>
    </p:spTree>
    <p:extLst>
      <p:ext uri="{BB962C8B-B14F-4D97-AF65-F5344CB8AC3E}">
        <p14:creationId xmlns:p14="http://schemas.microsoft.com/office/powerpoint/2010/main" val="575495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Footer Placeholder 3"/>
          <p:cNvSpPr>
            <a:spLocks noGrp="1"/>
          </p:cNvSpPr>
          <p:nvPr>
            <p:ph type="ftr" sz="quarter" idx="4"/>
          </p:nvPr>
        </p:nvSpPr>
        <p:spPr/>
        <p:txBody>
          <a:bodyPr/>
          <a:lstStyle/>
          <a:p>
            <a:pPr rtl="0"/>
            <a:r>
              <a:rPr lang="en-US" noProof="0"/>
              <a:t>Youssef A. Khattab</a:t>
            </a:r>
            <a:endParaRPr lang="en-US" noProof="0" dirty="0"/>
          </a:p>
        </p:txBody>
      </p:sp>
    </p:spTree>
    <p:extLst>
      <p:ext uri="{BB962C8B-B14F-4D97-AF65-F5344CB8AC3E}">
        <p14:creationId xmlns:p14="http://schemas.microsoft.com/office/powerpoint/2010/main" val="2397392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4"/>
          </p:nvPr>
        </p:nvSpPr>
        <p:spPr/>
        <p:txBody>
          <a:bodyPr/>
          <a:lstStyle/>
          <a:p>
            <a:pPr rtl="0"/>
            <a:r>
              <a:rPr lang="en-US" noProof="0"/>
              <a:t>Youssef A. Khattab</a:t>
            </a:r>
            <a:endParaRPr lang="en-US" noProof="0" dirty="0"/>
          </a:p>
        </p:txBody>
      </p:sp>
    </p:spTree>
    <p:extLst>
      <p:ext uri="{BB962C8B-B14F-4D97-AF65-F5344CB8AC3E}">
        <p14:creationId xmlns:p14="http://schemas.microsoft.com/office/powerpoint/2010/main" val="2888036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F1F1F"/>
                </a:solidFill>
                <a:effectLst/>
                <a:highlight>
                  <a:srgbClr val="FFFFFF"/>
                </a:highlight>
                <a:latin typeface="Arial" panose="020B0604020202020204" pitchFamily="34" charset="0"/>
                <a:cs typeface="Arial" panose="020B0604020202020204" pitchFamily="34" charset="0"/>
              </a:rPr>
              <a:t>Supervised learning forms a fundamental pillar of machine learning. Imagine a student learning under a teacher's guidance. Similarly, supervised learning algorithms leverage labeled data, where each input has a corresponding label representing the desired output. By analyzing these labeled examples, the model learns to map inputs to outputs, enabling it to make accurate predictions on unseen data.</a:t>
            </a:r>
          </a:p>
          <a:p>
            <a:br>
              <a:rPr lang="en-US" dirty="0"/>
            </a:br>
            <a:endParaRPr lang="en-GB" dirty="0"/>
          </a:p>
        </p:txBody>
      </p:sp>
      <p:sp>
        <p:nvSpPr>
          <p:cNvPr id="4" name="Footer Placeholder 3"/>
          <p:cNvSpPr>
            <a:spLocks noGrp="1"/>
          </p:cNvSpPr>
          <p:nvPr>
            <p:ph type="ftr" sz="quarter" idx="4"/>
          </p:nvPr>
        </p:nvSpPr>
        <p:spPr/>
        <p:txBody>
          <a:bodyPr/>
          <a:lstStyle/>
          <a:p>
            <a:pPr rtl="0"/>
            <a:r>
              <a:rPr lang="en-US" noProof="0"/>
              <a:t>Youssef A. Khattab</a:t>
            </a:r>
            <a:endParaRPr lang="en-US" noProof="0" dirty="0"/>
          </a:p>
        </p:txBody>
      </p:sp>
    </p:spTree>
    <p:extLst>
      <p:ext uri="{BB962C8B-B14F-4D97-AF65-F5344CB8AC3E}">
        <p14:creationId xmlns:p14="http://schemas.microsoft.com/office/powerpoint/2010/main" val="262492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F1F1F"/>
                </a:solidFill>
                <a:effectLst/>
                <a:highlight>
                  <a:srgbClr val="FFFFFF"/>
                </a:highlight>
                <a:latin typeface="Arial" panose="020B0604020202020204" pitchFamily="34" charset="0"/>
                <a:cs typeface="Arial" panose="020B0604020202020204" pitchFamily="34" charset="0"/>
              </a:rPr>
              <a:t>The landscape of supervised learning algorithms is rich and varied. We'll focus on two prominent examples: Linear Regression excels at continuous prediction tasks, like forecasting sales or estimating stock prices. Decision Trees, on the other hand, are powerful for classification problems, such as spam detection or customer churn prediction.</a:t>
            </a:r>
          </a:p>
          <a:p>
            <a:br>
              <a:rPr lang="en-US" dirty="0">
                <a:latin typeface="Arial" panose="020B0604020202020204" pitchFamily="34" charset="0"/>
                <a:cs typeface="Arial" panose="020B0604020202020204" pitchFamily="34" charset="0"/>
              </a:rPr>
            </a:br>
            <a:endParaRPr lang="en-GB"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4"/>
          </p:nvPr>
        </p:nvSpPr>
        <p:spPr/>
        <p:txBody>
          <a:bodyPr/>
          <a:lstStyle/>
          <a:p>
            <a:pPr rtl="0"/>
            <a:r>
              <a:rPr lang="en-US" noProof="0"/>
              <a:t>Youssef A. Khattab</a:t>
            </a:r>
            <a:endParaRPr lang="en-US" noProof="0" dirty="0"/>
          </a:p>
        </p:txBody>
      </p:sp>
    </p:spTree>
    <p:extLst>
      <p:ext uri="{BB962C8B-B14F-4D97-AF65-F5344CB8AC3E}">
        <p14:creationId xmlns:p14="http://schemas.microsoft.com/office/powerpoint/2010/main" val="2174686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Get ready for an engaging activity! We'll leverage a real-world dataset to construct a supervised learning model for predicting housing prices. We'll explore different algorithms and witness the power of data-driven prediction firsthand. This interactive session will solidify your understanding of supervised learning and its real-world applications.</a:t>
            </a:r>
          </a:p>
          <a:p>
            <a:endParaRPr lang="en-US"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4"/>
          </p:nvPr>
        </p:nvSpPr>
        <p:spPr/>
        <p:txBody>
          <a:bodyPr/>
          <a:lstStyle/>
          <a:p>
            <a:pPr rtl="0"/>
            <a:r>
              <a:rPr lang="en-US" noProof="0"/>
              <a:t>Youssef A. Khattab</a:t>
            </a:r>
            <a:endParaRPr lang="en-US" noProof="0" dirty="0"/>
          </a:p>
        </p:txBody>
      </p:sp>
    </p:spTree>
    <p:extLst>
      <p:ext uri="{BB962C8B-B14F-4D97-AF65-F5344CB8AC3E}">
        <p14:creationId xmlns:p14="http://schemas.microsoft.com/office/powerpoint/2010/main" val="878016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4"/>
          </p:nvPr>
        </p:nvSpPr>
        <p:spPr/>
        <p:txBody>
          <a:bodyPr/>
          <a:lstStyle/>
          <a:p>
            <a:pPr rtl="0"/>
            <a:r>
              <a:rPr lang="en-US" noProof="0"/>
              <a:t>Youssef A. Khattab</a:t>
            </a:r>
            <a:endParaRPr lang="en-US" noProof="0" dirty="0"/>
          </a:p>
        </p:txBody>
      </p:sp>
    </p:spTree>
    <p:extLst>
      <p:ext uri="{BB962C8B-B14F-4D97-AF65-F5344CB8AC3E}">
        <p14:creationId xmlns:p14="http://schemas.microsoft.com/office/powerpoint/2010/main" val="1860204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0" i="0" dirty="0">
                <a:solidFill>
                  <a:srgbClr val="1F1F1F"/>
                </a:solidFill>
                <a:effectLst/>
                <a:highlight>
                  <a:srgbClr val="FFFFFF"/>
                </a:highlight>
                <a:latin typeface="Arial" panose="020B0604020202020204" pitchFamily="34" charset="0"/>
                <a:cs typeface="Arial" panose="020B0604020202020204" pitchFamily="34" charset="0"/>
              </a:rPr>
              <a:t>Congratulations! Today's session has unveiled the captivating world of supervised and unsupervised learning. We've delved into the core concepts, explored popular algorithms, and even participated in a hands-on activity. This foundation empowers you to leverage machine learning for various tasks, from forecasting trends to uncovering hidden patterns in data. As you embark on your machine learning journey, remember that this field is constantly pushing boundaries. Stay curious, keep exploring, and embrace the power of data to unlock new possibilities!</a:t>
            </a:r>
            <a:br>
              <a:rPr lang="en-US" b="0" i="0" dirty="0">
                <a:solidFill>
                  <a:srgbClr val="1F1F1F"/>
                </a:solidFill>
                <a:effectLst/>
                <a:highlight>
                  <a:srgbClr val="FFFFFF"/>
                </a:highlight>
                <a:latin typeface="Arial" panose="020B0604020202020204" pitchFamily="34" charset="0"/>
                <a:cs typeface="Arial" panose="020B0604020202020204" pitchFamily="34" charset="0"/>
              </a:rPr>
            </a:br>
            <a:endParaRPr lang="en-GB"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4"/>
          </p:nvPr>
        </p:nvSpPr>
        <p:spPr/>
        <p:txBody>
          <a:bodyPr/>
          <a:lstStyle/>
          <a:p>
            <a:pPr rtl="0"/>
            <a:r>
              <a:rPr lang="en-US" noProof="0"/>
              <a:t>Youssef A. Khattab</a:t>
            </a:r>
            <a:endParaRPr lang="en-US" noProof="0" dirty="0"/>
          </a:p>
        </p:txBody>
      </p:sp>
    </p:spTree>
    <p:extLst>
      <p:ext uri="{BB962C8B-B14F-4D97-AF65-F5344CB8AC3E}">
        <p14:creationId xmlns:p14="http://schemas.microsoft.com/office/powerpoint/2010/main" val="2262341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Footer Placeholder 3"/>
          <p:cNvSpPr>
            <a:spLocks noGrp="1"/>
          </p:cNvSpPr>
          <p:nvPr>
            <p:ph type="ftr" sz="quarter" idx="4"/>
          </p:nvPr>
        </p:nvSpPr>
        <p:spPr/>
        <p:txBody>
          <a:bodyPr/>
          <a:lstStyle/>
          <a:p>
            <a:pPr rtl="0"/>
            <a:r>
              <a:rPr lang="en-US" noProof="0"/>
              <a:t>Youssef A. Khattab</a:t>
            </a:r>
            <a:endParaRPr lang="en-US" noProof="0" dirty="0"/>
          </a:p>
        </p:txBody>
      </p:sp>
    </p:spTree>
    <p:extLst>
      <p:ext uri="{BB962C8B-B14F-4D97-AF65-F5344CB8AC3E}">
        <p14:creationId xmlns:p14="http://schemas.microsoft.com/office/powerpoint/2010/main" val="1061665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Footer Placeholder 3"/>
          <p:cNvSpPr>
            <a:spLocks noGrp="1"/>
          </p:cNvSpPr>
          <p:nvPr>
            <p:ph type="ftr" sz="quarter" idx="4"/>
          </p:nvPr>
        </p:nvSpPr>
        <p:spPr/>
        <p:txBody>
          <a:bodyPr/>
          <a:lstStyle/>
          <a:p>
            <a:pPr rtl="0"/>
            <a:r>
              <a:rPr lang="en-US" noProof="0"/>
              <a:t>Youssef A. Khattab</a:t>
            </a:r>
            <a:endParaRPr lang="en-US" noProof="0" dirty="0"/>
          </a:p>
        </p:txBody>
      </p:sp>
    </p:spTree>
    <p:extLst>
      <p:ext uri="{BB962C8B-B14F-4D97-AF65-F5344CB8AC3E}">
        <p14:creationId xmlns:p14="http://schemas.microsoft.com/office/powerpoint/2010/main" val="20759678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Footer Placeholder 3"/>
          <p:cNvSpPr>
            <a:spLocks noGrp="1"/>
          </p:cNvSpPr>
          <p:nvPr>
            <p:ph type="ftr" sz="quarter" idx="4"/>
          </p:nvPr>
        </p:nvSpPr>
        <p:spPr/>
        <p:txBody>
          <a:bodyPr/>
          <a:lstStyle/>
          <a:p>
            <a:pPr rtl="0"/>
            <a:r>
              <a:rPr lang="en-US" noProof="0"/>
              <a:t>Youssef A. Khattab</a:t>
            </a:r>
            <a:endParaRPr lang="en-US" noProof="0" dirty="0"/>
          </a:p>
        </p:txBody>
      </p:sp>
    </p:spTree>
    <p:extLst>
      <p:ext uri="{BB962C8B-B14F-4D97-AF65-F5344CB8AC3E}">
        <p14:creationId xmlns:p14="http://schemas.microsoft.com/office/powerpoint/2010/main" val="4146040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4"/>
          </p:nvPr>
        </p:nvSpPr>
        <p:spPr/>
        <p:txBody>
          <a:bodyPr/>
          <a:lstStyle/>
          <a:p>
            <a:pPr rtl="0"/>
            <a:r>
              <a:rPr lang="en-US" noProof="0"/>
              <a:t>Youssef A. Khattab</a:t>
            </a:r>
            <a:endParaRPr lang="en-US" noProof="0" dirty="0"/>
          </a:p>
        </p:txBody>
      </p:sp>
    </p:spTree>
    <p:extLst>
      <p:ext uri="{BB962C8B-B14F-4D97-AF65-F5344CB8AC3E}">
        <p14:creationId xmlns:p14="http://schemas.microsoft.com/office/powerpoint/2010/main" val="1009982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rtlCol="0" anchor="b"/>
          <a:lstStyle>
            <a:lvl1pPr algn="ctr">
              <a:defRPr sz="6000"/>
            </a:lvl1pPr>
          </a:lstStyle>
          <a:p>
            <a:pPr rtl="0"/>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rtlCol="0"/>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a:t>Click to edit Master subtitle style</a:t>
            </a:r>
            <a:endParaRPr lang="en-US" dirty="0"/>
          </a:p>
        </p:txBody>
      </p:sp>
      <p:sp>
        <p:nvSpPr>
          <p:cNvPr id="4" name="Date Placeholder 3"/>
          <p:cNvSpPr>
            <a:spLocks noGrp="1"/>
          </p:cNvSpPr>
          <p:nvPr>
            <p:ph type="dt" sz="half" idx="10"/>
          </p:nvPr>
        </p:nvSpPr>
        <p:spPr/>
        <p:txBody>
          <a:bodyPr rtlCol="0"/>
          <a:lstStyle/>
          <a:p>
            <a:pPr rtl="0"/>
            <a:r>
              <a:rPr lang="en-US"/>
              <a:t>4/14/2024</a:t>
            </a:r>
            <a:endParaRPr lang="en-US" dirty="0"/>
          </a:p>
        </p:txBody>
      </p:sp>
      <p:sp>
        <p:nvSpPr>
          <p:cNvPr id="5" name="Footer Placeholder 4"/>
          <p:cNvSpPr>
            <a:spLocks noGrp="1"/>
          </p:cNvSpPr>
          <p:nvPr>
            <p:ph type="ftr" sz="quarter" idx="11"/>
          </p:nvPr>
        </p:nvSpPr>
        <p:spPr/>
        <p:txBody>
          <a:bodyPr rtlCol="0"/>
          <a:lstStyle/>
          <a:p>
            <a:pPr rtl="0"/>
            <a:r>
              <a:rPr lang="en-US"/>
              <a:t>Youssef A. Khattab</a:t>
            </a:r>
            <a:endParaRPr lang="en-US" dirty="0"/>
          </a:p>
        </p:txBody>
      </p:sp>
      <p:sp>
        <p:nvSpPr>
          <p:cNvPr id="6" name="Slide Number Placeholder 5"/>
          <p:cNvSpPr>
            <a:spLocks noGrp="1"/>
          </p:cNvSpPr>
          <p:nvPr>
            <p:ph type="sldNum" sz="quarter" idx="12"/>
          </p:nvPr>
        </p:nvSpPr>
        <p:spPr/>
        <p:txBody>
          <a:bodyPr rtlCol="0"/>
          <a:lstStyle/>
          <a:p>
            <a:pPr rtl="0"/>
            <a:fld id="{A428E537-E56B-49CA-B596-52598082FBE8}" type="slidenum">
              <a:rPr lang="en-US" smtClean="0"/>
              <a:t>‹#›</a:t>
            </a:fld>
            <a:endParaRPr lang="en-US" dirty="0"/>
          </a:p>
        </p:txBody>
      </p:sp>
    </p:spTree>
    <p:extLst>
      <p:ext uri="{BB962C8B-B14F-4D97-AF65-F5344CB8AC3E}">
        <p14:creationId xmlns:p14="http://schemas.microsoft.com/office/powerpoint/2010/main" val="2635058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a:t>Click to edit Master title style</a:t>
            </a:r>
            <a:endParaRPr lang="en-US" dirty="0"/>
          </a:p>
        </p:txBody>
      </p:sp>
      <p:sp>
        <p:nvSpPr>
          <p:cNvPr id="3" name="Content Placeholder 2"/>
          <p:cNvSpPr>
            <a:spLocks noGrp="1"/>
          </p:cNvSpPr>
          <p:nvPr>
            <p:ph idx="1"/>
          </p:nvPr>
        </p:nvSpPr>
        <p:spPr/>
        <p:txBody>
          <a:bodyPr rtlCol="0"/>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4" name="Date Placeholder 3"/>
          <p:cNvSpPr>
            <a:spLocks noGrp="1"/>
          </p:cNvSpPr>
          <p:nvPr>
            <p:ph type="dt" sz="half" idx="10"/>
          </p:nvPr>
        </p:nvSpPr>
        <p:spPr/>
        <p:txBody>
          <a:bodyPr rtlCol="0"/>
          <a:lstStyle/>
          <a:p>
            <a:pPr rtl="0"/>
            <a:r>
              <a:rPr lang="en-US"/>
              <a:t>4/14/2024</a:t>
            </a:r>
            <a:endParaRPr lang="en-US" dirty="0"/>
          </a:p>
        </p:txBody>
      </p:sp>
      <p:sp>
        <p:nvSpPr>
          <p:cNvPr id="5" name="Footer Placeholder 4"/>
          <p:cNvSpPr>
            <a:spLocks noGrp="1"/>
          </p:cNvSpPr>
          <p:nvPr>
            <p:ph type="ftr" sz="quarter" idx="11"/>
          </p:nvPr>
        </p:nvSpPr>
        <p:spPr>
          <a:xfrm>
            <a:off x="10147300" y="6296819"/>
            <a:ext cx="2032000" cy="544512"/>
          </a:xfrm>
        </p:spPr>
        <p:txBody>
          <a:bodyPr rtlCol="0"/>
          <a:lstStyle/>
          <a:p>
            <a:pPr rtl="0"/>
            <a:r>
              <a:rPr lang="en-US"/>
              <a:t>Youssef A. Khattab</a:t>
            </a:r>
            <a:endParaRPr lang="en-US" dirty="0"/>
          </a:p>
        </p:txBody>
      </p:sp>
      <p:sp>
        <p:nvSpPr>
          <p:cNvPr id="6" name="Slide Number Placeholder 5"/>
          <p:cNvSpPr>
            <a:spLocks noGrp="1"/>
          </p:cNvSpPr>
          <p:nvPr>
            <p:ph type="sldNum" sz="quarter" idx="12"/>
          </p:nvPr>
        </p:nvSpPr>
        <p:spPr/>
        <p:txBody>
          <a:bodyPr rtlCol="0"/>
          <a:lstStyle/>
          <a:p>
            <a:pPr rtl="0"/>
            <a:fld id="{A428E537-E56B-49CA-B596-52598082FBE8}" type="slidenum">
              <a:rPr lang="en-US" smtClean="0"/>
              <a:t>‹#›</a:t>
            </a:fld>
            <a:endParaRPr lang="en-US" dirty="0"/>
          </a:p>
        </p:txBody>
      </p:sp>
    </p:spTree>
    <p:extLst>
      <p:ext uri="{BB962C8B-B14F-4D97-AF65-F5344CB8AC3E}">
        <p14:creationId xmlns:p14="http://schemas.microsoft.com/office/powerpoint/2010/main" val="3302397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rtlCol="0" anchor="b"/>
          <a:lstStyle>
            <a:lvl1pPr>
              <a:defRPr sz="6000"/>
            </a:lvl1pPr>
          </a:lstStyle>
          <a:p>
            <a:pPr rtl="0"/>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a:t>Click to edit Master text styles</a:t>
            </a:r>
          </a:p>
        </p:txBody>
      </p:sp>
      <p:sp>
        <p:nvSpPr>
          <p:cNvPr id="4" name="Date Placeholder 3"/>
          <p:cNvSpPr>
            <a:spLocks noGrp="1"/>
          </p:cNvSpPr>
          <p:nvPr>
            <p:ph type="dt" sz="half" idx="10"/>
          </p:nvPr>
        </p:nvSpPr>
        <p:spPr/>
        <p:txBody>
          <a:bodyPr rtlCol="0"/>
          <a:lstStyle/>
          <a:p>
            <a:pPr rtl="0"/>
            <a:r>
              <a:rPr lang="en-US"/>
              <a:t>4/14/2024</a:t>
            </a:r>
            <a:endParaRPr lang="en-US" dirty="0"/>
          </a:p>
        </p:txBody>
      </p:sp>
      <p:sp>
        <p:nvSpPr>
          <p:cNvPr id="5" name="Footer Placeholder 4"/>
          <p:cNvSpPr>
            <a:spLocks noGrp="1"/>
          </p:cNvSpPr>
          <p:nvPr>
            <p:ph type="ftr" sz="quarter" idx="11"/>
          </p:nvPr>
        </p:nvSpPr>
        <p:spPr/>
        <p:txBody>
          <a:bodyPr rtlCol="0"/>
          <a:lstStyle/>
          <a:p>
            <a:pPr rtl="0"/>
            <a:r>
              <a:rPr lang="en-US"/>
              <a:t>Youssef A. Khattab</a:t>
            </a:r>
            <a:endParaRPr lang="en-US" dirty="0"/>
          </a:p>
        </p:txBody>
      </p:sp>
      <p:sp>
        <p:nvSpPr>
          <p:cNvPr id="6" name="Slide Number Placeholder 5"/>
          <p:cNvSpPr>
            <a:spLocks noGrp="1"/>
          </p:cNvSpPr>
          <p:nvPr>
            <p:ph type="sldNum" sz="quarter" idx="12"/>
          </p:nvPr>
        </p:nvSpPr>
        <p:spPr/>
        <p:txBody>
          <a:bodyPr rtlCol="0"/>
          <a:lstStyle/>
          <a:p>
            <a:pPr rtl="0"/>
            <a:fld id="{A428E537-E56B-49CA-B596-52598082FBE8}" type="slidenum">
              <a:rPr lang="en-US" smtClean="0"/>
              <a:t>‹#›</a:t>
            </a:fld>
            <a:endParaRPr lang="en-US" dirty="0"/>
          </a:p>
        </p:txBody>
      </p:sp>
    </p:spTree>
    <p:extLst>
      <p:ext uri="{BB962C8B-B14F-4D97-AF65-F5344CB8AC3E}">
        <p14:creationId xmlns:p14="http://schemas.microsoft.com/office/powerpoint/2010/main" val="1662068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rtlCol="0"/>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rtlCol="0"/>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5" name="Date Placeholder 4"/>
          <p:cNvSpPr>
            <a:spLocks noGrp="1"/>
          </p:cNvSpPr>
          <p:nvPr>
            <p:ph type="dt" sz="half" idx="10"/>
          </p:nvPr>
        </p:nvSpPr>
        <p:spPr/>
        <p:txBody>
          <a:bodyPr rtlCol="0"/>
          <a:lstStyle/>
          <a:p>
            <a:pPr rtl="0"/>
            <a:r>
              <a:rPr lang="en-US"/>
              <a:t>4/14/2024</a:t>
            </a:r>
            <a:endParaRPr lang="en-US" dirty="0"/>
          </a:p>
        </p:txBody>
      </p:sp>
      <p:sp>
        <p:nvSpPr>
          <p:cNvPr id="6" name="Footer Placeholder 5"/>
          <p:cNvSpPr>
            <a:spLocks noGrp="1"/>
          </p:cNvSpPr>
          <p:nvPr>
            <p:ph type="ftr" sz="quarter" idx="11"/>
          </p:nvPr>
        </p:nvSpPr>
        <p:spPr/>
        <p:txBody>
          <a:bodyPr rtlCol="0"/>
          <a:lstStyle/>
          <a:p>
            <a:pPr rtl="0"/>
            <a:r>
              <a:rPr lang="en-US"/>
              <a:t>Youssef A. Khattab</a:t>
            </a:r>
            <a:endParaRPr lang="en-US" dirty="0"/>
          </a:p>
        </p:txBody>
      </p:sp>
      <p:sp>
        <p:nvSpPr>
          <p:cNvPr id="7" name="Slide Number Placeholder 6"/>
          <p:cNvSpPr>
            <a:spLocks noGrp="1"/>
          </p:cNvSpPr>
          <p:nvPr>
            <p:ph type="sldNum" sz="quarter" idx="12"/>
          </p:nvPr>
        </p:nvSpPr>
        <p:spPr/>
        <p:txBody>
          <a:bodyPr rtlCol="0"/>
          <a:lstStyle/>
          <a:p>
            <a:pPr rtl="0"/>
            <a:fld id="{A428E537-E56B-49CA-B596-52598082FBE8}" type="slidenum">
              <a:rPr lang="en-US" smtClean="0"/>
              <a:t>‹#›</a:t>
            </a:fld>
            <a:endParaRPr lang="en-US" dirty="0"/>
          </a:p>
        </p:txBody>
      </p:sp>
    </p:spTree>
    <p:extLst>
      <p:ext uri="{BB962C8B-B14F-4D97-AF65-F5344CB8AC3E}">
        <p14:creationId xmlns:p14="http://schemas.microsoft.com/office/powerpoint/2010/main" val="2034835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rtlCol="0"/>
          <a:lstStyle/>
          <a:p>
            <a:pPr rtl="0"/>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rtlCol="0"/>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rtlCol="0"/>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7" name="Date Placeholder 6"/>
          <p:cNvSpPr>
            <a:spLocks noGrp="1"/>
          </p:cNvSpPr>
          <p:nvPr>
            <p:ph type="dt" sz="half" idx="10"/>
          </p:nvPr>
        </p:nvSpPr>
        <p:spPr/>
        <p:txBody>
          <a:bodyPr rtlCol="0"/>
          <a:lstStyle/>
          <a:p>
            <a:pPr rtl="0"/>
            <a:r>
              <a:rPr lang="en-US"/>
              <a:t>4/14/2024</a:t>
            </a:r>
            <a:endParaRPr lang="en-US" dirty="0"/>
          </a:p>
        </p:txBody>
      </p:sp>
      <p:sp>
        <p:nvSpPr>
          <p:cNvPr id="8" name="Footer Placeholder 7"/>
          <p:cNvSpPr>
            <a:spLocks noGrp="1"/>
          </p:cNvSpPr>
          <p:nvPr>
            <p:ph type="ftr" sz="quarter" idx="11"/>
          </p:nvPr>
        </p:nvSpPr>
        <p:spPr/>
        <p:txBody>
          <a:bodyPr rtlCol="0"/>
          <a:lstStyle/>
          <a:p>
            <a:pPr rtl="0"/>
            <a:r>
              <a:rPr lang="en-US"/>
              <a:t>Youssef A. Khattab</a:t>
            </a:r>
            <a:endParaRPr lang="en-US" dirty="0"/>
          </a:p>
        </p:txBody>
      </p:sp>
      <p:sp>
        <p:nvSpPr>
          <p:cNvPr id="9" name="Slide Number Placeholder 8"/>
          <p:cNvSpPr>
            <a:spLocks noGrp="1"/>
          </p:cNvSpPr>
          <p:nvPr>
            <p:ph type="sldNum" sz="quarter" idx="12"/>
          </p:nvPr>
        </p:nvSpPr>
        <p:spPr/>
        <p:txBody>
          <a:bodyPr rtlCol="0"/>
          <a:lstStyle/>
          <a:p>
            <a:pPr rtl="0"/>
            <a:fld id="{A428E537-E56B-49CA-B596-52598082FBE8}" type="slidenum">
              <a:rPr lang="en-US" smtClean="0"/>
              <a:t>‹#›</a:t>
            </a:fld>
            <a:endParaRPr lang="en-US" dirty="0"/>
          </a:p>
        </p:txBody>
      </p:sp>
    </p:spTree>
    <p:extLst>
      <p:ext uri="{BB962C8B-B14F-4D97-AF65-F5344CB8AC3E}">
        <p14:creationId xmlns:p14="http://schemas.microsoft.com/office/powerpoint/2010/main" val="1645618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dirty="0"/>
              <a:t>Click to edit Master title style</a:t>
            </a:r>
          </a:p>
        </p:txBody>
      </p:sp>
      <p:sp>
        <p:nvSpPr>
          <p:cNvPr id="3" name="Date Placeholder 2"/>
          <p:cNvSpPr>
            <a:spLocks noGrp="1"/>
          </p:cNvSpPr>
          <p:nvPr>
            <p:ph type="dt" sz="half" idx="10"/>
          </p:nvPr>
        </p:nvSpPr>
        <p:spPr/>
        <p:txBody>
          <a:bodyPr rtlCol="0"/>
          <a:lstStyle/>
          <a:p>
            <a:pPr rtl="0"/>
            <a:r>
              <a:rPr lang="en-US"/>
              <a:t>4/14/2024</a:t>
            </a:r>
            <a:endParaRPr lang="en-US" dirty="0"/>
          </a:p>
        </p:txBody>
      </p:sp>
      <p:sp>
        <p:nvSpPr>
          <p:cNvPr id="4" name="Footer Placeholder 3"/>
          <p:cNvSpPr>
            <a:spLocks noGrp="1"/>
          </p:cNvSpPr>
          <p:nvPr>
            <p:ph type="ftr" sz="quarter" idx="11"/>
          </p:nvPr>
        </p:nvSpPr>
        <p:spPr/>
        <p:txBody>
          <a:bodyPr rtlCol="0"/>
          <a:lstStyle/>
          <a:p>
            <a:pPr rtl="0"/>
            <a:r>
              <a:rPr lang="en-US" dirty="0"/>
              <a:t>Youssef A. Khattab</a:t>
            </a:r>
          </a:p>
        </p:txBody>
      </p:sp>
      <p:sp>
        <p:nvSpPr>
          <p:cNvPr id="5" name="Slide Number Placeholder 4"/>
          <p:cNvSpPr>
            <a:spLocks noGrp="1"/>
          </p:cNvSpPr>
          <p:nvPr>
            <p:ph type="sldNum" sz="quarter" idx="12"/>
          </p:nvPr>
        </p:nvSpPr>
        <p:spPr/>
        <p:txBody>
          <a:bodyPr rtlCol="0"/>
          <a:lstStyle/>
          <a:p>
            <a:pPr rtl="0"/>
            <a:fld id="{A428E537-E56B-49CA-B596-52598082FBE8}" type="slidenum">
              <a:rPr lang="en-US" smtClean="0"/>
              <a:t>‹#›</a:t>
            </a:fld>
            <a:endParaRPr lang="en-US" dirty="0"/>
          </a:p>
        </p:txBody>
      </p:sp>
    </p:spTree>
    <p:extLst>
      <p:ext uri="{BB962C8B-B14F-4D97-AF65-F5344CB8AC3E}">
        <p14:creationId xmlns:p14="http://schemas.microsoft.com/office/powerpoint/2010/main" val="1432641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r>
              <a:rPr lang="en-US"/>
              <a:t>4/14/2024</a:t>
            </a:r>
            <a:endParaRPr lang="en-US" dirty="0"/>
          </a:p>
        </p:txBody>
      </p:sp>
      <p:sp>
        <p:nvSpPr>
          <p:cNvPr id="3" name="Footer Placeholder 2"/>
          <p:cNvSpPr>
            <a:spLocks noGrp="1"/>
          </p:cNvSpPr>
          <p:nvPr>
            <p:ph type="ftr" sz="quarter" idx="11"/>
          </p:nvPr>
        </p:nvSpPr>
        <p:spPr/>
        <p:txBody>
          <a:bodyPr rtlCol="0"/>
          <a:lstStyle/>
          <a:p>
            <a:pPr rtl="0"/>
            <a:r>
              <a:rPr lang="en-US"/>
              <a:t>Youssef A. Khattab</a:t>
            </a:r>
            <a:endParaRPr lang="en-US" dirty="0"/>
          </a:p>
        </p:txBody>
      </p:sp>
      <p:sp>
        <p:nvSpPr>
          <p:cNvPr id="4" name="Slide Number Placeholder 3"/>
          <p:cNvSpPr>
            <a:spLocks noGrp="1"/>
          </p:cNvSpPr>
          <p:nvPr>
            <p:ph type="sldNum" sz="quarter" idx="12"/>
          </p:nvPr>
        </p:nvSpPr>
        <p:spPr/>
        <p:txBody>
          <a:bodyPr rtlCol="0"/>
          <a:lstStyle/>
          <a:p>
            <a:pPr rtl="0"/>
            <a:fld id="{A428E537-E56B-49CA-B596-52598082FBE8}" type="slidenum">
              <a:rPr lang="en-US" smtClean="0"/>
              <a:t>‹#›</a:t>
            </a:fld>
            <a:endParaRPr lang="en-US" dirty="0"/>
          </a:p>
        </p:txBody>
      </p:sp>
    </p:spTree>
    <p:extLst>
      <p:ext uri="{BB962C8B-B14F-4D97-AF65-F5344CB8AC3E}">
        <p14:creationId xmlns:p14="http://schemas.microsoft.com/office/powerpoint/2010/main" val="753328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3B832CC-E04A-47A7-966D-475AEA6409AB}"/>
              </a:ext>
            </a:extLst>
          </p:cNvPr>
          <p:cNvSpPr>
            <a:spLocks noGrp="1"/>
          </p:cNvSpPr>
          <p:nvPr>
            <p:ph type="pic" sz="quarter" idx="13"/>
          </p:nvPr>
        </p:nvSpPr>
        <p:spPr>
          <a:xfrm>
            <a:off x="4689139"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rtlCol="0">
            <a:noAutofit/>
          </a:bodyPr>
          <a:lstStyle/>
          <a:p>
            <a:pPr rtl="0"/>
            <a:r>
              <a:rPr lang="en-US"/>
              <a:t>Click icon to add picture</a:t>
            </a:r>
            <a:endParaRPr lang="en-US" dirty="0"/>
          </a:p>
        </p:txBody>
      </p:sp>
      <p:sp>
        <p:nvSpPr>
          <p:cNvPr id="2" name="Date Placeholder 1"/>
          <p:cNvSpPr>
            <a:spLocks noGrp="1"/>
          </p:cNvSpPr>
          <p:nvPr>
            <p:ph type="dt" sz="half" idx="10"/>
          </p:nvPr>
        </p:nvSpPr>
        <p:spPr/>
        <p:txBody>
          <a:bodyPr rtlCol="0"/>
          <a:lstStyle/>
          <a:p>
            <a:pPr rtl="0"/>
            <a:r>
              <a:rPr lang="en-US"/>
              <a:t>4/14/2024</a:t>
            </a:r>
            <a:endParaRPr lang="en-US" dirty="0"/>
          </a:p>
        </p:txBody>
      </p:sp>
      <p:sp>
        <p:nvSpPr>
          <p:cNvPr id="3" name="Footer Placeholder 2"/>
          <p:cNvSpPr>
            <a:spLocks noGrp="1"/>
          </p:cNvSpPr>
          <p:nvPr>
            <p:ph type="ftr" sz="quarter" idx="11"/>
          </p:nvPr>
        </p:nvSpPr>
        <p:spPr/>
        <p:txBody>
          <a:bodyPr rtlCol="0"/>
          <a:lstStyle/>
          <a:p>
            <a:pPr rtl="0"/>
            <a:r>
              <a:rPr lang="en-US"/>
              <a:t>Youssef A. Khattab</a:t>
            </a:r>
            <a:endParaRPr lang="en-US" dirty="0"/>
          </a:p>
        </p:txBody>
      </p:sp>
      <p:sp>
        <p:nvSpPr>
          <p:cNvPr id="4" name="Slide Number Placeholder 3"/>
          <p:cNvSpPr>
            <a:spLocks noGrp="1"/>
          </p:cNvSpPr>
          <p:nvPr>
            <p:ph type="sldNum" sz="quarter" idx="12"/>
          </p:nvPr>
        </p:nvSpPr>
        <p:spPr/>
        <p:txBody>
          <a:bodyPr rtlCol="0"/>
          <a:lstStyle/>
          <a:p>
            <a:pPr rtl="0"/>
            <a:fld id="{A428E537-E56B-49CA-B596-52598082FBE8}" type="slidenum">
              <a:rPr lang="en-US" smtClean="0"/>
              <a:t>‹#›</a:t>
            </a:fld>
            <a:endParaRPr lang="en-US" dirty="0"/>
          </a:p>
        </p:txBody>
      </p:sp>
      <p:sp>
        <p:nvSpPr>
          <p:cNvPr id="6" name="Freeform: Shape 7">
            <a:extLst>
              <a:ext uri="{FF2B5EF4-FFF2-40B4-BE49-F238E27FC236}">
                <a16:creationId xmlns:a16="http://schemas.microsoft.com/office/drawing/2014/main" id="{23B832CC-E04A-47A7-966D-475AEA6409AB}"/>
              </a:ext>
            </a:extLst>
          </p:cNvPr>
          <p:cNvSpPr>
            <a:spLocks noGrp="1"/>
          </p:cNvSpPr>
          <p:nvPr>
            <p:ph type="pic" sz="quarter" idx="14"/>
          </p:nvPr>
        </p:nvSpPr>
        <p:spPr>
          <a:xfrm>
            <a:off x="1125882"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rtlCol="0">
            <a:noAutofit/>
          </a:bodyPr>
          <a:lstStyle/>
          <a:p>
            <a:pPr rtl="0"/>
            <a:r>
              <a:rPr lang="en-US"/>
              <a:t>Click icon to add picture</a:t>
            </a:r>
            <a:endParaRPr lang="en-US" dirty="0"/>
          </a:p>
        </p:txBody>
      </p:sp>
      <p:sp>
        <p:nvSpPr>
          <p:cNvPr id="7" name="Freeform: Shape 7">
            <a:extLst>
              <a:ext uri="{FF2B5EF4-FFF2-40B4-BE49-F238E27FC236}">
                <a16:creationId xmlns:a16="http://schemas.microsoft.com/office/drawing/2014/main" id="{23B832CC-E04A-47A7-966D-475AEA6409AB}"/>
              </a:ext>
            </a:extLst>
          </p:cNvPr>
          <p:cNvSpPr>
            <a:spLocks noGrp="1"/>
          </p:cNvSpPr>
          <p:nvPr>
            <p:ph type="pic" sz="quarter" idx="15"/>
          </p:nvPr>
        </p:nvSpPr>
        <p:spPr>
          <a:xfrm>
            <a:off x="8252396"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rtlCol="0">
            <a:noAutofit/>
          </a:bodyPr>
          <a:lstStyle/>
          <a:p>
            <a:pPr rtl="0"/>
            <a:r>
              <a:rPr lang="en-US"/>
              <a:t>Click icon to add picture</a:t>
            </a:r>
            <a:endParaRPr lang="en-US" dirty="0"/>
          </a:p>
        </p:txBody>
      </p:sp>
    </p:spTree>
    <p:extLst>
      <p:ext uri="{BB962C8B-B14F-4D97-AF65-F5344CB8AC3E}">
        <p14:creationId xmlns:p14="http://schemas.microsoft.com/office/powerpoint/2010/main" val="1596995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rtlCol="0" anchor="b"/>
          <a:lstStyle>
            <a:lvl1pPr>
              <a:defRPr sz="3200"/>
            </a:lvl1pPr>
          </a:lstStyle>
          <a:p>
            <a:pPr rtl="0"/>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a:t>Click to edit Master text styles</a:t>
            </a:r>
          </a:p>
        </p:txBody>
      </p:sp>
      <p:sp>
        <p:nvSpPr>
          <p:cNvPr id="5" name="Date Placeholder 4"/>
          <p:cNvSpPr>
            <a:spLocks noGrp="1"/>
          </p:cNvSpPr>
          <p:nvPr>
            <p:ph type="dt" sz="half" idx="10"/>
          </p:nvPr>
        </p:nvSpPr>
        <p:spPr/>
        <p:txBody>
          <a:bodyPr rtlCol="0"/>
          <a:lstStyle/>
          <a:p>
            <a:pPr rtl="0"/>
            <a:r>
              <a:rPr lang="en-US"/>
              <a:t>4/14/2024</a:t>
            </a:r>
            <a:endParaRPr lang="en-US" dirty="0"/>
          </a:p>
        </p:txBody>
      </p:sp>
      <p:sp>
        <p:nvSpPr>
          <p:cNvPr id="6" name="Footer Placeholder 5"/>
          <p:cNvSpPr>
            <a:spLocks noGrp="1"/>
          </p:cNvSpPr>
          <p:nvPr>
            <p:ph type="ftr" sz="quarter" idx="11"/>
          </p:nvPr>
        </p:nvSpPr>
        <p:spPr/>
        <p:txBody>
          <a:bodyPr rtlCol="0"/>
          <a:lstStyle/>
          <a:p>
            <a:pPr rtl="0"/>
            <a:r>
              <a:rPr lang="en-US"/>
              <a:t>Youssef A. Khattab</a:t>
            </a:r>
            <a:endParaRPr lang="en-US" dirty="0"/>
          </a:p>
        </p:txBody>
      </p:sp>
      <p:sp>
        <p:nvSpPr>
          <p:cNvPr id="7" name="Slide Number Placeholder 6"/>
          <p:cNvSpPr>
            <a:spLocks noGrp="1"/>
          </p:cNvSpPr>
          <p:nvPr>
            <p:ph type="sldNum" sz="quarter" idx="12"/>
          </p:nvPr>
        </p:nvSpPr>
        <p:spPr/>
        <p:txBody>
          <a:bodyPr rtlCol="0"/>
          <a:lstStyle/>
          <a:p>
            <a:pPr rtl="0"/>
            <a:fld id="{A428E537-E56B-49CA-B596-52598082FBE8}" type="slidenum">
              <a:rPr lang="en-US" smtClean="0"/>
              <a:t>‹#›</a:t>
            </a:fld>
            <a:endParaRPr lang="en-US" dirty="0"/>
          </a:p>
        </p:txBody>
      </p:sp>
    </p:spTree>
    <p:extLst>
      <p:ext uri="{BB962C8B-B14F-4D97-AF65-F5344CB8AC3E}">
        <p14:creationId xmlns:p14="http://schemas.microsoft.com/office/powerpoint/2010/main" val="4001594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rtlCol="0" anchor="b"/>
          <a:lstStyle>
            <a:lvl1pPr>
              <a:defRPr sz="3200"/>
            </a:lvl1pPr>
          </a:lstStyle>
          <a:p>
            <a:pPr rtl="0"/>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a:t>Click to edit Master text styles</a:t>
            </a:r>
          </a:p>
        </p:txBody>
      </p:sp>
      <p:sp>
        <p:nvSpPr>
          <p:cNvPr id="5" name="Date Placeholder 4"/>
          <p:cNvSpPr>
            <a:spLocks noGrp="1"/>
          </p:cNvSpPr>
          <p:nvPr>
            <p:ph type="dt" sz="half" idx="10"/>
          </p:nvPr>
        </p:nvSpPr>
        <p:spPr/>
        <p:txBody>
          <a:bodyPr rtlCol="0"/>
          <a:lstStyle/>
          <a:p>
            <a:pPr rtl="0"/>
            <a:r>
              <a:rPr lang="en-US"/>
              <a:t>4/14/2024</a:t>
            </a:r>
            <a:endParaRPr lang="en-US" dirty="0"/>
          </a:p>
        </p:txBody>
      </p:sp>
      <p:sp>
        <p:nvSpPr>
          <p:cNvPr id="6" name="Footer Placeholder 5"/>
          <p:cNvSpPr>
            <a:spLocks noGrp="1"/>
          </p:cNvSpPr>
          <p:nvPr>
            <p:ph type="ftr" sz="quarter" idx="11"/>
          </p:nvPr>
        </p:nvSpPr>
        <p:spPr/>
        <p:txBody>
          <a:bodyPr rtlCol="0"/>
          <a:lstStyle/>
          <a:p>
            <a:pPr rtl="0"/>
            <a:r>
              <a:rPr lang="en-US"/>
              <a:t>Youssef A. Khattab</a:t>
            </a:r>
            <a:endParaRPr lang="en-US" dirty="0"/>
          </a:p>
        </p:txBody>
      </p:sp>
      <p:sp>
        <p:nvSpPr>
          <p:cNvPr id="7" name="Slide Number Placeholder 6"/>
          <p:cNvSpPr>
            <a:spLocks noGrp="1"/>
          </p:cNvSpPr>
          <p:nvPr>
            <p:ph type="sldNum" sz="quarter" idx="12"/>
          </p:nvPr>
        </p:nvSpPr>
        <p:spPr/>
        <p:txBody>
          <a:bodyPr rtlCol="0"/>
          <a:lstStyle/>
          <a:p>
            <a:pPr rtl="0"/>
            <a:fld id="{A428E537-E56B-49CA-B596-52598082FBE8}" type="slidenum">
              <a:rPr lang="en-US" smtClean="0"/>
              <a:t>‹#›</a:t>
            </a:fld>
            <a:endParaRPr lang="en-US" dirty="0"/>
          </a:p>
        </p:txBody>
      </p:sp>
    </p:spTree>
    <p:extLst>
      <p:ext uri="{BB962C8B-B14F-4D97-AF65-F5344CB8AC3E}">
        <p14:creationId xmlns:p14="http://schemas.microsoft.com/office/powerpoint/2010/main" val="2779547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a:t>Click to edit Master title style</a:t>
            </a:r>
            <a:endParaRPr lang="en-US" dirty="0"/>
          </a:p>
        </p:txBody>
      </p:sp>
      <p:sp>
        <p:nvSpPr>
          <p:cNvPr id="3" name="Vertical Text Placeholder 2"/>
          <p:cNvSpPr>
            <a:spLocks noGrp="1"/>
          </p:cNvSpPr>
          <p:nvPr>
            <p:ph type="body" orient="vert" idx="1"/>
          </p:nvPr>
        </p:nvSpPr>
        <p:spPr/>
        <p:txBody>
          <a:bodyPr vert="eaVert" rtlCol="0"/>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4" name="Date Placeholder 3"/>
          <p:cNvSpPr>
            <a:spLocks noGrp="1"/>
          </p:cNvSpPr>
          <p:nvPr>
            <p:ph type="dt" sz="half" idx="10"/>
          </p:nvPr>
        </p:nvSpPr>
        <p:spPr/>
        <p:txBody>
          <a:bodyPr rtlCol="0"/>
          <a:lstStyle/>
          <a:p>
            <a:pPr rtl="0"/>
            <a:r>
              <a:rPr lang="en-US"/>
              <a:t>4/14/2024</a:t>
            </a:r>
            <a:endParaRPr lang="en-US" dirty="0"/>
          </a:p>
        </p:txBody>
      </p:sp>
      <p:sp>
        <p:nvSpPr>
          <p:cNvPr id="5" name="Footer Placeholder 4"/>
          <p:cNvSpPr>
            <a:spLocks noGrp="1"/>
          </p:cNvSpPr>
          <p:nvPr>
            <p:ph type="ftr" sz="quarter" idx="11"/>
          </p:nvPr>
        </p:nvSpPr>
        <p:spPr/>
        <p:txBody>
          <a:bodyPr rtlCol="0"/>
          <a:lstStyle/>
          <a:p>
            <a:pPr rtl="0"/>
            <a:r>
              <a:rPr lang="en-US"/>
              <a:t>Youssef A. Khattab</a:t>
            </a:r>
            <a:endParaRPr lang="en-US" dirty="0"/>
          </a:p>
        </p:txBody>
      </p:sp>
      <p:sp>
        <p:nvSpPr>
          <p:cNvPr id="6" name="Slide Number Placeholder 5"/>
          <p:cNvSpPr>
            <a:spLocks noGrp="1"/>
          </p:cNvSpPr>
          <p:nvPr>
            <p:ph type="sldNum" sz="quarter" idx="12"/>
          </p:nvPr>
        </p:nvSpPr>
        <p:spPr/>
        <p:txBody>
          <a:bodyPr rtlCol="0"/>
          <a:lstStyle/>
          <a:p>
            <a:pPr rtl="0"/>
            <a:fld id="{A428E537-E56B-49CA-B596-52598082FBE8}" type="slidenum">
              <a:rPr lang="en-US" smtClean="0"/>
              <a:t>‹#›</a:t>
            </a:fld>
            <a:endParaRPr lang="en-US" dirty="0"/>
          </a:p>
        </p:txBody>
      </p:sp>
    </p:spTree>
    <p:extLst>
      <p:ext uri="{BB962C8B-B14F-4D97-AF65-F5344CB8AC3E}">
        <p14:creationId xmlns:p14="http://schemas.microsoft.com/office/powerpoint/2010/main" val="4394202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rtlCol="0"/>
          <a:lstStyle/>
          <a:p>
            <a:pPr rtl="0"/>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rtlCol="0"/>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4" name="Date Placeholder 3"/>
          <p:cNvSpPr>
            <a:spLocks noGrp="1"/>
          </p:cNvSpPr>
          <p:nvPr>
            <p:ph type="dt" sz="half" idx="10"/>
          </p:nvPr>
        </p:nvSpPr>
        <p:spPr/>
        <p:txBody>
          <a:bodyPr rtlCol="0"/>
          <a:lstStyle/>
          <a:p>
            <a:pPr rtl="0"/>
            <a:r>
              <a:rPr lang="en-US"/>
              <a:t>4/14/2024</a:t>
            </a:r>
            <a:endParaRPr lang="en-US" dirty="0"/>
          </a:p>
        </p:txBody>
      </p:sp>
      <p:sp>
        <p:nvSpPr>
          <p:cNvPr id="5" name="Footer Placeholder 4"/>
          <p:cNvSpPr>
            <a:spLocks noGrp="1"/>
          </p:cNvSpPr>
          <p:nvPr>
            <p:ph type="ftr" sz="quarter" idx="11"/>
          </p:nvPr>
        </p:nvSpPr>
        <p:spPr/>
        <p:txBody>
          <a:bodyPr rtlCol="0"/>
          <a:lstStyle/>
          <a:p>
            <a:pPr rtl="0"/>
            <a:r>
              <a:rPr lang="en-US"/>
              <a:t>Youssef A. Khattab</a:t>
            </a:r>
            <a:endParaRPr lang="en-US" dirty="0"/>
          </a:p>
        </p:txBody>
      </p:sp>
      <p:sp>
        <p:nvSpPr>
          <p:cNvPr id="6" name="Slide Number Placeholder 5"/>
          <p:cNvSpPr>
            <a:spLocks noGrp="1"/>
          </p:cNvSpPr>
          <p:nvPr>
            <p:ph type="sldNum" sz="quarter" idx="12"/>
          </p:nvPr>
        </p:nvSpPr>
        <p:spPr/>
        <p:txBody>
          <a:bodyPr rtlCol="0"/>
          <a:lstStyle/>
          <a:p>
            <a:pPr rtl="0"/>
            <a:fld id="{A428E537-E56B-49CA-B596-52598082FBE8}" type="slidenum">
              <a:rPr lang="en-US" smtClean="0"/>
              <a:t>‹#›</a:t>
            </a:fld>
            <a:endParaRPr lang="en-US" dirty="0"/>
          </a:p>
        </p:txBody>
      </p:sp>
    </p:spTree>
    <p:extLst>
      <p:ext uri="{BB962C8B-B14F-4D97-AF65-F5344CB8AC3E}">
        <p14:creationId xmlns:p14="http://schemas.microsoft.com/office/powerpoint/2010/main" val="3032131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r>
              <a:rPr lang="en-US"/>
              <a:t>4/14/2024</a:t>
            </a:r>
            <a:endParaRPr lang="en-US" dirty="0"/>
          </a:p>
        </p:txBody>
      </p:sp>
      <p:sp>
        <p:nvSpPr>
          <p:cNvPr id="5" name="Footer Placeholder 4"/>
          <p:cNvSpPr>
            <a:spLocks noGrp="1"/>
          </p:cNvSpPr>
          <p:nvPr>
            <p:ph type="ftr" sz="quarter" idx="3"/>
          </p:nvPr>
        </p:nvSpPr>
        <p:spPr>
          <a:xfrm>
            <a:off x="9601200" y="6220619"/>
            <a:ext cx="2184400" cy="544512"/>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r>
              <a:rPr lang="en-US" dirty="0"/>
              <a:t>Youssef A. Khattab</a:t>
            </a:r>
          </a:p>
        </p:txBody>
      </p:sp>
      <p:sp>
        <p:nvSpPr>
          <p:cNvPr id="6" name="Slide Number Placeholder 5"/>
          <p:cNvSpPr>
            <a:spLocks noGrp="1"/>
          </p:cNvSpPr>
          <p:nvPr>
            <p:ph type="sldNum" sz="quarter" idx="4"/>
          </p:nvPr>
        </p:nvSpPr>
        <p:spPr>
          <a:xfrm>
            <a:off x="50038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A428E537-E56B-49CA-B596-52598082FBE8}" type="slidenum">
              <a:rPr lang="en-US" smtClean="0"/>
              <a:t>‹#›</a:t>
            </a:fld>
            <a:endParaRPr lang="en-US" dirty="0"/>
          </a:p>
        </p:txBody>
      </p:sp>
    </p:spTree>
    <p:extLst>
      <p:ext uri="{BB962C8B-B14F-4D97-AF65-F5344CB8AC3E}">
        <p14:creationId xmlns:p14="http://schemas.microsoft.com/office/powerpoint/2010/main" val="28447593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4" r:id="rId8"/>
    <p:sldLayoutId id="2147483680" r:id="rId9"/>
    <p:sldLayoutId id="2147483681" r:id="rId10"/>
    <p:sldLayoutId id="2147483682" r:id="rId11"/>
    <p:sldLayoutId id="2147483683"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9.emf"/></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1" name="Group 20">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22" name="Freeform: Shape 21">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886916" y="2461114"/>
            <a:ext cx="5209084" cy="1151084"/>
          </a:xfrm>
          <a:prstGeom prst="rect">
            <a:avLst/>
          </a:prstGeom>
          <a:noFill/>
        </p:spPr>
        <p:txBody>
          <a:bodyPr wrap="square" lIns="0" tIns="0" rIns="0" bIns="0" rtlCol="0">
            <a:spAutoFit/>
          </a:bodyPr>
          <a:lstStyle/>
          <a:p>
            <a:pPr algn="ctr" defTabSz="777240">
              <a:spcAft>
                <a:spcPts val="600"/>
              </a:spcAft>
              <a:tabLst>
                <a:tab pos="295514" algn="l"/>
              </a:tabLst>
            </a:pPr>
            <a:r>
              <a:rPr lang="en-US" sz="3740" b="1" kern="1200" dirty="0">
                <a:solidFill>
                  <a:srgbClr val="555555"/>
                </a:solidFill>
                <a:latin typeface="+mj-lt"/>
                <a:ea typeface="+mn-ea"/>
                <a:cs typeface="+mn-cs"/>
              </a:rPr>
              <a:t>Day3: </a:t>
            </a:r>
            <a:r>
              <a:rPr lang="en-US" sz="3740" b="1" dirty="0">
                <a:solidFill>
                  <a:srgbClr val="005993"/>
                </a:solidFill>
                <a:latin typeface="+mj-lt"/>
              </a:rPr>
              <a:t>Build your first AI Model</a:t>
            </a:r>
            <a:endParaRPr lang="en-gb" sz="4400" b="1" dirty="0">
              <a:solidFill>
                <a:srgbClr val="00B0F0"/>
              </a:solidFill>
              <a:latin typeface="+mj-lt"/>
            </a:endParaRPr>
          </a:p>
        </p:txBody>
      </p:sp>
      <p:sp>
        <p:nvSpPr>
          <p:cNvPr id="2" name="Oval 1">
            <a:extLst>
              <a:ext uri="{C183D7F6-B498-43B3-948B-1728B52AA6E4}">
                <adec:decorative xmlns:adec="http://schemas.microsoft.com/office/drawing/2017/decorative" val="1"/>
              </a:ext>
            </a:extLst>
          </p:cNvPr>
          <p:cNvSpPr/>
          <p:nvPr/>
        </p:nvSpPr>
        <p:spPr>
          <a:xfrm>
            <a:off x="7100305" y="1282897"/>
            <a:ext cx="749166" cy="749165"/>
          </a:xfrm>
          <a:prstGeom prst="ellipse">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solidFill>
                <a:schemeClr val="bg1"/>
              </a:solidFill>
            </a:endParaRPr>
          </a:p>
        </p:txBody>
      </p:sp>
      <p:sp>
        <p:nvSpPr>
          <p:cNvPr id="10" name="Oval 9">
            <a:extLst>
              <a:ext uri="{C183D7F6-B498-43B3-948B-1728B52AA6E4}">
                <adec:decorative xmlns:adec="http://schemas.microsoft.com/office/drawing/2017/decorative" val="1"/>
              </a:ext>
            </a:extLst>
          </p:cNvPr>
          <p:cNvSpPr/>
          <p:nvPr/>
        </p:nvSpPr>
        <p:spPr>
          <a:xfrm>
            <a:off x="7430429" y="1356149"/>
            <a:ext cx="602663" cy="602661"/>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1" name="Oval 10">
            <a:extLst>
              <a:ext uri="{C183D7F6-B498-43B3-948B-1728B52AA6E4}">
                <adec:decorative xmlns:adec="http://schemas.microsoft.com/office/drawing/2017/decorative" val="1"/>
              </a:ext>
            </a:extLst>
          </p:cNvPr>
          <p:cNvSpPr/>
          <p:nvPr/>
        </p:nvSpPr>
        <p:spPr>
          <a:xfrm>
            <a:off x="6916685" y="1356149"/>
            <a:ext cx="602663" cy="602661"/>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4" name="Footer Placeholder 13">
            <a:extLst>
              <a:ext uri="{FF2B5EF4-FFF2-40B4-BE49-F238E27FC236}">
                <a16:creationId xmlns:a16="http://schemas.microsoft.com/office/drawing/2014/main" id="{E2C06125-5C97-E888-C6C6-5D756BE57EBF}"/>
              </a:ext>
            </a:extLst>
          </p:cNvPr>
          <p:cNvSpPr>
            <a:spLocks/>
          </p:cNvSpPr>
          <p:nvPr/>
        </p:nvSpPr>
        <p:spPr>
          <a:xfrm>
            <a:off x="10325412" y="6282961"/>
            <a:ext cx="1866588" cy="465290"/>
          </a:xfrm>
          <a:prstGeom prst="rect">
            <a:avLst/>
          </a:prstGeom>
        </p:spPr>
        <p:txBody>
          <a:bodyPr/>
          <a:lstStyle/>
          <a:p>
            <a:pPr defTabSz="777240">
              <a:spcAft>
                <a:spcPts val="600"/>
              </a:spcAft>
            </a:pPr>
            <a:r>
              <a:rPr lang="en-US" sz="1530" kern="1200" dirty="0">
                <a:solidFill>
                  <a:schemeClr val="tx1"/>
                </a:solidFill>
                <a:latin typeface="+mn-lt"/>
                <a:ea typeface="+mn-ea"/>
                <a:cs typeface="+mn-cs"/>
              </a:rPr>
              <a:t>Youssef A. Khattab</a:t>
            </a:r>
            <a:endParaRPr lang="en-US" dirty="0"/>
          </a:p>
        </p:txBody>
      </p:sp>
      <p:pic>
        <p:nvPicPr>
          <p:cNvPr id="5" name="Picture 4" descr="A group of people looking at a planet earth&#10;&#10;Description automatically generated">
            <a:extLst>
              <a:ext uri="{FF2B5EF4-FFF2-40B4-BE49-F238E27FC236}">
                <a16:creationId xmlns:a16="http://schemas.microsoft.com/office/drawing/2014/main" id="{4C6F0DF9-63AE-AA9E-639E-F5E8D17E5D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5255" y="895770"/>
            <a:ext cx="5159829" cy="5159829"/>
          </a:xfrm>
          <a:prstGeom prst="rect">
            <a:avLst/>
          </a:prstGeom>
        </p:spPr>
      </p:pic>
    </p:spTree>
    <p:extLst>
      <p:ext uri="{BB962C8B-B14F-4D97-AF65-F5344CB8AC3E}">
        <p14:creationId xmlns:p14="http://schemas.microsoft.com/office/powerpoint/2010/main" val="735082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 name="Rectangle 78">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4" name="Rectangle 4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TextBox 6">
            <a:extLst>
              <a:ext uri="{FF2B5EF4-FFF2-40B4-BE49-F238E27FC236}">
                <a16:creationId xmlns:a16="http://schemas.microsoft.com/office/drawing/2014/main" id="{76CE86CF-78A4-3AB2-3DBC-51887AF11537}"/>
              </a:ext>
            </a:extLst>
          </p:cNvPr>
          <p:cNvSpPr txBox="1"/>
          <p:nvPr/>
        </p:nvSpPr>
        <p:spPr>
          <a:xfrm>
            <a:off x="841248" y="3337269"/>
            <a:ext cx="10509504" cy="2905686"/>
          </a:xfrm>
          <a:prstGeom prst="rect">
            <a:avLst/>
          </a:prstGeom>
        </p:spPr>
        <p:txBody>
          <a:bodyPr vert="horz" lIns="91440" tIns="45720" rIns="91440" bIns="45720" rtlCol="0">
            <a:normAutofit/>
          </a:bodyPr>
          <a:lstStyle/>
          <a:p>
            <a:pPr>
              <a:lnSpc>
                <a:spcPct val="90000"/>
              </a:lnSpc>
              <a:spcAft>
                <a:spcPts val="600"/>
              </a:spcAft>
            </a:pPr>
            <a:r>
              <a:rPr lang="en-US" sz="2200" dirty="0"/>
              <a:t>Welcome to the thrilling world of building your very own AI model! In this session, we'll take the first steps on this exciting journey. We'll explore the fundamental concepts behind AI models and guide you through the process of creating your first one.</a:t>
            </a:r>
          </a:p>
        </p:txBody>
      </p:sp>
      <p:sp>
        <p:nvSpPr>
          <p:cNvPr id="3" name="Footer Placeholder 11">
            <a:extLst>
              <a:ext uri="{FF2B5EF4-FFF2-40B4-BE49-F238E27FC236}">
                <a16:creationId xmlns:a16="http://schemas.microsoft.com/office/drawing/2014/main" id="{DE1BE294-8625-9BE9-E6C5-FDA1777236F6}"/>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lumMod val="50000"/>
                    <a:lumOff val="50000"/>
                  </a:schemeClr>
                </a:solidFill>
                <a:latin typeface="+mn-lt"/>
                <a:ea typeface="+mn-ea"/>
                <a:cs typeface="+mn-cs"/>
              </a:rPr>
              <a:t>Youssef A. Khattab</a:t>
            </a:r>
          </a:p>
        </p:txBody>
      </p:sp>
      <p:pic>
        <p:nvPicPr>
          <p:cNvPr id="18" name="Graphic 17" descr="Light Bulb and Gear">
            <a:extLst>
              <a:ext uri="{FF2B5EF4-FFF2-40B4-BE49-F238E27FC236}">
                <a16:creationId xmlns:a16="http://schemas.microsoft.com/office/drawing/2014/main" id="{633ECC78-F975-1635-8A4B-D467EAA54E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3363" y="174033"/>
            <a:ext cx="940258" cy="940258"/>
          </a:xfrm>
          <a:prstGeom prst="rect">
            <a:avLst/>
          </a:prstGeom>
        </p:spPr>
      </p:pic>
      <p:pic>
        <p:nvPicPr>
          <p:cNvPr id="11" name="Graphic 10" descr="Light Bulb and Gear">
            <a:extLst>
              <a:ext uri="{FF2B5EF4-FFF2-40B4-BE49-F238E27FC236}">
                <a16:creationId xmlns:a16="http://schemas.microsoft.com/office/drawing/2014/main" id="{4091665E-51BC-1027-6FAC-5B49D47B5D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3363" y="174033"/>
            <a:ext cx="940258" cy="940258"/>
          </a:xfrm>
          <a:prstGeom prst="rect">
            <a:avLst/>
          </a:prstGeom>
        </p:spPr>
      </p:pic>
      <p:sp>
        <p:nvSpPr>
          <p:cNvPr id="9" name="TextBox 8">
            <a:extLst>
              <a:ext uri="{FF2B5EF4-FFF2-40B4-BE49-F238E27FC236}">
                <a16:creationId xmlns:a16="http://schemas.microsoft.com/office/drawing/2014/main" id="{B83FE184-3462-936A-614E-2C0F7D5C6062}"/>
              </a:ext>
            </a:extLst>
          </p:cNvPr>
          <p:cNvSpPr txBox="1"/>
          <p:nvPr/>
        </p:nvSpPr>
        <p:spPr>
          <a:xfrm>
            <a:off x="769672" y="2200971"/>
            <a:ext cx="4183327" cy="461665"/>
          </a:xfrm>
          <a:prstGeom prst="rect">
            <a:avLst/>
          </a:prstGeom>
          <a:noFill/>
        </p:spPr>
        <p:txBody>
          <a:bodyPr wrap="square" rtlCol="0">
            <a:spAutoFit/>
          </a:bodyPr>
          <a:lstStyle/>
          <a:p>
            <a:r>
              <a:rPr lang="en-GB" sz="2400" b="1" dirty="0"/>
              <a:t>Welcome back, everyone! </a:t>
            </a:r>
          </a:p>
        </p:txBody>
      </p:sp>
    </p:spTree>
    <p:extLst>
      <p:ext uri="{BB962C8B-B14F-4D97-AF65-F5344CB8AC3E}">
        <p14:creationId xmlns:p14="http://schemas.microsoft.com/office/powerpoint/2010/main" val="724481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 name="Flowchart: Document 86">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BCEE47-2D74-A3F8-936F-8DC359E52A02}"/>
              </a:ext>
            </a:extLst>
          </p:cNvPr>
          <p:cNvSpPr>
            <a:spLocks noGrp="1"/>
          </p:cNvSpPr>
          <p:nvPr>
            <p:ph type="title"/>
          </p:nvPr>
        </p:nvSpPr>
        <p:spPr>
          <a:xfrm>
            <a:off x="638175" y="171162"/>
            <a:ext cx="3248025" cy="2735324"/>
          </a:xfrm>
        </p:spPr>
        <p:txBody>
          <a:bodyPr vert="horz" lIns="91440" tIns="45720" rIns="91440" bIns="45720" rtlCol="0" anchor="ctr">
            <a:normAutofit/>
          </a:bodyPr>
          <a:lstStyle/>
          <a:p>
            <a:r>
              <a:rPr lang="en-US" sz="2400" b="1" kern="1200" dirty="0">
                <a:solidFill>
                  <a:srgbClr val="FFFFFF"/>
                </a:solidFill>
                <a:latin typeface="+mj-lt"/>
                <a:ea typeface="+mj-ea"/>
                <a:cs typeface="+mj-cs"/>
              </a:rPr>
              <a:t>Your First AI Model:</a:t>
            </a:r>
            <a:br>
              <a:rPr lang="en-US" sz="2000" kern="1200" dirty="0">
                <a:solidFill>
                  <a:srgbClr val="FFFFFF"/>
                </a:solidFill>
                <a:latin typeface="+mj-lt"/>
                <a:ea typeface="+mj-ea"/>
                <a:cs typeface="+mj-cs"/>
              </a:rPr>
            </a:br>
            <a:br>
              <a:rPr lang="en-US" sz="2000" kern="1200" dirty="0">
                <a:solidFill>
                  <a:srgbClr val="FFFFFF"/>
                </a:solidFill>
                <a:latin typeface="+mj-lt"/>
                <a:ea typeface="+mj-ea"/>
                <a:cs typeface="+mj-cs"/>
              </a:rPr>
            </a:br>
            <a:r>
              <a:rPr lang="en-US" sz="2000" kern="1200" dirty="0">
                <a:solidFill>
                  <a:srgbClr val="FFFFFF"/>
                </a:solidFill>
                <a:latin typeface="+mj-lt"/>
                <a:ea typeface="+mj-ea"/>
                <a:cs typeface="+mj-cs"/>
              </a:rPr>
              <a:t>https://shorturl.at/kp145</a:t>
            </a:r>
          </a:p>
        </p:txBody>
      </p:sp>
      <p:pic>
        <p:nvPicPr>
          <p:cNvPr id="16" name="Picture 15">
            <a:extLst>
              <a:ext uri="{FF2B5EF4-FFF2-40B4-BE49-F238E27FC236}">
                <a16:creationId xmlns:a16="http://schemas.microsoft.com/office/drawing/2014/main" id="{BC0C8FD0-B761-294B-B956-A082B7438A91}"/>
              </a:ext>
            </a:extLst>
          </p:cNvPr>
          <p:cNvPicPr>
            <a:picLocks noChangeAspect="1"/>
          </p:cNvPicPr>
          <p:nvPr/>
        </p:nvPicPr>
        <p:blipFill>
          <a:blip r:embed="rId2"/>
          <a:stretch>
            <a:fillRect/>
          </a:stretch>
        </p:blipFill>
        <p:spPr>
          <a:xfrm>
            <a:off x="5092293" y="640080"/>
            <a:ext cx="5578816" cy="5578816"/>
          </a:xfrm>
          <a:prstGeom prst="rect">
            <a:avLst/>
          </a:prstGeom>
        </p:spPr>
      </p:pic>
      <p:sp>
        <p:nvSpPr>
          <p:cNvPr id="4" name="Footer Placeholder 3">
            <a:extLst>
              <a:ext uri="{FF2B5EF4-FFF2-40B4-BE49-F238E27FC236}">
                <a16:creationId xmlns:a16="http://schemas.microsoft.com/office/drawing/2014/main" id="{C2C11B5E-C7AE-7429-CD6B-3F2A15A94369}"/>
              </a:ext>
            </a:extLst>
          </p:cNvPr>
          <p:cNvSpPr>
            <a:spLocks noGrp="1"/>
          </p:cNvSpPr>
          <p:nvPr>
            <p:ph type="ftr" sz="quarter" idx="11"/>
          </p:nvPr>
        </p:nvSpPr>
        <p:spPr>
          <a:xfrm>
            <a:off x="838200" y="6356350"/>
            <a:ext cx="5960951" cy="365125"/>
          </a:xfrm>
          <a:noFill/>
        </p:spPr>
        <p:txBody>
          <a:bodyPr vert="horz" lIns="91440" tIns="45720" rIns="91440" bIns="45720" rtlCol="0" anchor="ctr">
            <a:normAutofit/>
          </a:bodyPr>
          <a:lstStyle/>
          <a:p>
            <a:pPr algn="l">
              <a:spcAft>
                <a:spcPts val="600"/>
              </a:spcAft>
            </a:pPr>
            <a:r>
              <a:rPr lang="en-US" kern="1200">
                <a:solidFill>
                  <a:schemeClr val="tx1">
                    <a:tint val="75000"/>
                  </a:schemeClr>
                </a:solidFill>
                <a:latin typeface="+mn-lt"/>
                <a:ea typeface="+mn-ea"/>
                <a:cs typeface="+mn-cs"/>
              </a:rPr>
              <a:t>Youssef A. Khattab</a:t>
            </a:r>
          </a:p>
        </p:txBody>
      </p:sp>
    </p:spTree>
    <p:extLst>
      <p:ext uri="{BB962C8B-B14F-4D97-AF65-F5344CB8AC3E}">
        <p14:creationId xmlns:p14="http://schemas.microsoft.com/office/powerpoint/2010/main" val="2084103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5297891-0608-E3C9-B904-8E8259741B24}"/>
              </a:ext>
            </a:extLst>
          </p:cNvPr>
          <p:cNvSpPr txBox="1"/>
          <p:nvPr/>
        </p:nvSpPr>
        <p:spPr>
          <a:xfrm>
            <a:off x="9152898" y="2041442"/>
            <a:ext cx="2835901" cy="284607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400" kern="1200" dirty="0">
                <a:solidFill>
                  <a:schemeClr val="tx1"/>
                </a:solidFill>
                <a:latin typeface="+mj-lt"/>
                <a:ea typeface="+mj-ea"/>
                <a:cs typeface="+mj-cs"/>
              </a:rPr>
              <a:t>Main types of machine learning algorithms </a:t>
            </a:r>
          </a:p>
        </p:txBody>
      </p:sp>
      <p:sp>
        <p:nvSpPr>
          <p:cNvPr id="20" name="Rectangle 1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A3628531-91C9-0344-0242-FC835AAE9F5E}"/>
              </a:ext>
            </a:extLst>
          </p:cNvPr>
          <p:cNvPicPr>
            <a:picLocks noGrp="1" noChangeAspect="1"/>
          </p:cNvPicPr>
          <p:nvPr>
            <p:ph idx="1"/>
          </p:nvPr>
        </p:nvPicPr>
        <p:blipFill>
          <a:blip r:embed="rId3"/>
          <a:stretch>
            <a:fillRect/>
          </a:stretch>
        </p:blipFill>
        <p:spPr>
          <a:xfrm>
            <a:off x="704700" y="858525"/>
            <a:ext cx="7289380" cy="5211906"/>
          </a:xfrm>
          <a:prstGeom prst="rect">
            <a:avLst/>
          </a:prstGeom>
        </p:spPr>
      </p:pic>
      <p:sp>
        <p:nvSpPr>
          <p:cNvPr id="24" name="Rectangle 23">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oter Placeholder 9">
            <a:extLst>
              <a:ext uri="{FF2B5EF4-FFF2-40B4-BE49-F238E27FC236}">
                <a16:creationId xmlns:a16="http://schemas.microsoft.com/office/drawing/2014/main" id="{6719338A-8F85-3DC5-BDED-EAF733D2B681}"/>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3247396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ooter Placeholder 3">
            <a:extLst>
              <a:ext uri="{FF2B5EF4-FFF2-40B4-BE49-F238E27FC236}">
                <a16:creationId xmlns:a16="http://schemas.microsoft.com/office/drawing/2014/main" id="{F902411B-0FAE-90B1-7CDD-47B02B776FB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Youssef A. Khattab</a:t>
            </a:r>
          </a:p>
        </p:txBody>
      </p:sp>
      <p:sp>
        <p:nvSpPr>
          <p:cNvPr id="37" name="Isosceles Triangle 3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11098ACE-5DAB-A068-EEFE-6FFFC2D3D19F}"/>
              </a:ext>
            </a:extLst>
          </p:cNvPr>
          <p:cNvPicPr>
            <a:picLocks noGrp="1" noChangeAspect="1"/>
          </p:cNvPicPr>
          <p:nvPr>
            <p:ph idx="1"/>
          </p:nvPr>
        </p:nvPicPr>
        <p:blipFill>
          <a:blip r:embed="rId3"/>
          <a:stretch>
            <a:fillRect/>
          </a:stretch>
        </p:blipFill>
        <p:spPr>
          <a:xfrm>
            <a:off x="643467" y="1207092"/>
            <a:ext cx="10905066" cy="4443814"/>
          </a:xfrm>
          <a:prstGeom prst="rect">
            <a:avLst/>
          </a:prstGeom>
          <a:ln>
            <a:noFill/>
          </a:ln>
        </p:spPr>
      </p:pic>
      <p:sp>
        <p:nvSpPr>
          <p:cNvPr id="39" name="Isosceles Triangle 3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5668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15" name="Rectangle 3114">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6" name="Freeform: Shape 3115">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44FC3EE-91E6-C503-B294-3D7C66143B93}"/>
              </a:ext>
            </a:extLst>
          </p:cNvPr>
          <p:cNvSpPr>
            <a:spLocks noGrp="1"/>
          </p:cNvSpPr>
          <p:nvPr>
            <p:ph type="title"/>
          </p:nvPr>
        </p:nvSpPr>
        <p:spPr>
          <a:xfrm>
            <a:off x="1137034" y="609597"/>
            <a:ext cx="9392421" cy="1330841"/>
          </a:xfrm>
        </p:spPr>
        <p:txBody>
          <a:bodyPr vert="horz" lIns="91440" tIns="45720" rIns="91440" bIns="45720" rtlCol="0" anchor="ctr">
            <a:normAutofit/>
          </a:bodyPr>
          <a:lstStyle/>
          <a:p>
            <a:pPr marL="342900" indent="-342900">
              <a:spcAft>
                <a:spcPts val="600"/>
              </a:spcAft>
            </a:pPr>
            <a:r>
              <a:rPr lang="en-US" sz="4400" kern="1200">
                <a:solidFill>
                  <a:schemeClr val="tx1"/>
                </a:solidFill>
                <a:latin typeface="+mj-lt"/>
                <a:ea typeface="+mj-ea"/>
                <a:cs typeface="+mj-cs"/>
              </a:rPr>
              <a:t>Supervised Learning: Learning from Labeled Examples</a:t>
            </a:r>
          </a:p>
        </p:txBody>
      </p:sp>
      <p:sp>
        <p:nvSpPr>
          <p:cNvPr id="4" name="Text Placeholder 3">
            <a:extLst>
              <a:ext uri="{FF2B5EF4-FFF2-40B4-BE49-F238E27FC236}">
                <a16:creationId xmlns:a16="http://schemas.microsoft.com/office/drawing/2014/main" id="{23A1D29A-7AFC-DCF5-61A4-E4741675B9D8}"/>
              </a:ext>
            </a:extLst>
          </p:cNvPr>
          <p:cNvSpPr>
            <a:spLocks noGrp="1"/>
          </p:cNvSpPr>
          <p:nvPr>
            <p:ph type="body" sz="half" idx="2"/>
          </p:nvPr>
        </p:nvSpPr>
        <p:spPr>
          <a:xfrm>
            <a:off x="1137034" y="2198362"/>
            <a:ext cx="4958966" cy="3917773"/>
          </a:xfrm>
        </p:spPr>
        <p:txBody>
          <a:bodyPr vert="horz" lIns="91440" tIns="45720" rIns="91440" bIns="45720" rtlCol="0">
            <a:normAutofit/>
          </a:bodyPr>
          <a:lstStyle/>
          <a:p>
            <a:pPr marL="342900" indent="-228600">
              <a:buFont typeface="Arial" panose="020B0604020202020204" pitchFamily="34" charset="0"/>
              <a:buChar char="•"/>
            </a:pPr>
            <a:r>
              <a:rPr lang="en-US" sz="2000" dirty="0"/>
              <a:t>Supervised learning trains models using labeled data.</a:t>
            </a:r>
          </a:p>
          <a:p>
            <a:pPr marL="342900" indent="-228600">
              <a:buFont typeface="Arial" panose="020B0604020202020204" pitchFamily="34" charset="0"/>
              <a:buChar char="•"/>
            </a:pPr>
            <a:endParaRPr lang="en-US" sz="2000" dirty="0"/>
          </a:p>
          <a:p>
            <a:pPr marL="342900" indent="-228600">
              <a:buFont typeface="Arial" panose="020B0604020202020204" pitchFamily="34" charset="0"/>
              <a:buChar char="•"/>
            </a:pPr>
            <a:r>
              <a:rPr lang="en-US" sz="2000" dirty="0"/>
              <a:t>Labeled data consists of input features paired with their corresponding desired outputs (labels).</a:t>
            </a:r>
          </a:p>
          <a:p>
            <a:pPr marL="342900" indent="-228600">
              <a:buFont typeface="Arial" panose="020B0604020202020204" pitchFamily="34" charset="0"/>
              <a:buChar char="•"/>
            </a:pPr>
            <a:endParaRPr lang="en-US" sz="2000" dirty="0"/>
          </a:p>
          <a:p>
            <a:pPr marL="342900" indent="-228600">
              <a:buFont typeface="Arial" panose="020B0604020202020204" pitchFamily="34" charset="0"/>
              <a:buChar char="•"/>
            </a:pPr>
            <a:r>
              <a:rPr lang="en-US" sz="2000" b="1" dirty="0"/>
              <a:t>Analogy: </a:t>
            </a:r>
            <a:r>
              <a:rPr lang="en-US" sz="2000" dirty="0"/>
              <a:t>Supervised learning resembles a student acquiring knowledge through a teacher's guidance and feedback.</a:t>
            </a:r>
          </a:p>
        </p:txBody>
      </p:sp>
      <p:pic>
        <p:nvPicPr>
          <p:cNvPr id="6" name="Picture 5">
            <a:extLst>
              <a:ext uri="{FF2B5EF4-FFF2-40B4-BE49-F238E27FC236}">
                <a16:creationId xmlns:a16="http://schemas.microsoft.com/office/drawing/2014/main" id="{D5D42157-73D4-95B4-5A80-26AA9E5D1562}"/>
              </a:ext>
            </a:extLst>
          </p:cNvPr>
          <p:cNvPicPr>
            <a:picLocks noChangeAspect="1"/>
          </p:cNvPicPr>
          <p:nvPr/>
        </p:nvPicPr>
        <p:blipFill>
          <a:blip r:embed="rId3"/>
          <a:stretch>
            <a:fillRect/>
          </a:stretch>
        </p:blipFill>
        <p:spPr>
          <a:xfrm>
            <a:off x="5947879" y="2302051"/>
            <a:ext cx="6021992" cy="3387369"/>
          </a:xfrm>
          <a:prstGeom prst="rect">
            <a:avLst/>
          </a:prstGeom>
        </p:spPr>
      </p:pic>
      <p:sp>
        <p:nvSpPr>
          <p:cNvPr id="3114" name="Freeform: Shape 31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id="{A5AC08F3-38EB-03D6-6508-C9BB48613111}"/>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sz="1000" kern="1200">
                <a:solidFill>
                  <a:schemeClr val="tx1">
                    <a:tint val="75000"/>
                  </a:schemeClr>
                </a:solidFill>
                <a:latin typeface="+mn-lt"/>
                <a:ea typeface="+mn-ea"/>
                <a:cs typeface="+mn-cs"/>
              </a:rPr>
              <a:t>Youssef A. Khattab</a:t>
            </a:r>
          </a:p>
        </p:txBody>
      </p:sp>
    </p:spTree>
    <p:extLst>
      <p:ext uri="{BB962C8B-B14F-4D97-AF65-F5344CB8AC3E}">
        <p14:creationId xmlns:p14="http://schemas.microsoft.com/office/powerpoint/2010/main" val="398021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0" name="Freeform: Shape 49">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1" name="Freeform: Shape 50">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631217B-0F91-EC49-AAEE-6CF92596BE47}"/>
              </a:ext>
            </a:extLst>
          </p:cNvPr>
          <p:cNvSpPr>
            <a:spLocks noGrp="1"/>
          </p:cNvSpPr>
          <p:nvPr>
            <p:ph type="title"/>
          </p:nvPr>
        </p:nvSpPr>
        <p:spPr>
          <a:xfrm>
            <a:off x="438913" y="859536"/>
            <a:ext cx="4832802" cy="1170432"/>
          </a:xfrm>
        </p:spPr>
        <p:txBody>
          <a:bodyPr vert="horz" lIns="91440" tIns="45720" rIns="91440" bIns="45720" rtlCol="0" anchor="b">
            <a:normAutofit/>
          </a:bodyPr>
          <a:lstStyle/>
          <a:p>
            <a:r>
              <a:rPr lang="en-US" sz="3400" dirty="0"/>
              <a:t>Common Supervised Learning Algorithms</a:t>
            </a:r>
          </a:p>
        </p:txBody>
      </p:sp>
      <p:sp>
        <p:nvSpPr>
          <p:cNvPr id="47" name="Rectangle 46">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3236"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9" name="Rectangle 48">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92" y="2185062"/>
            <a:ext cx="49377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C3D8CFCA-1CC2-8048-7447-F7CB2E1DE124}"/>
              </a:ext>
            </a:extLst>
          </p:cNvPr>
          <p:cNvSpPr>
            <a:spLocks noGrp="1"/>
          </p:cNvSpPr>
          <p:nvPr>
            <p:ph type="body" sz="half" idx="2"/>
          </p:nvPr>
        </p:nvSpPr>
        <p:spPr>
          <a:xfrm>
            <a:off x="438912" y="2512611"/>
            <a:ext cx="4832803" cy="3664351"/>
          </a:xfrm>
        </p:spPr>
        <p:txBody>
          <a:bodyPr vert="horz" lIns="91440" tIns="45720" rIns="91440" bIns="45720" rtlCol="0">
            <a:normAutofit/>
          </a:bodyPr>
          <a:lstStyle/>
          <a:p>
            <a:pPr indent="-228600">
              <a:buFont typeface="Arial" panose="020B0604020202020204" pitchFamily="34" charset="0"/>
              <a:buChar char="•"/>
            </a:pPr>
            <a:r>
              <a:rPr lang="en-US" sz="1700" b="0" i="0">
                <a:effectLst/>
                <a:highlight>
                  <a:srgbClr val="FFFFFF"/>
                </a:highlight>
              </a:rPr>
              <a:t>Supervised learning encompasses a diverse range of algorithms, each tailored to specific tasks.</a:t>
            </a:r>
          </a:p>
          <a:p>
            <a:pPr indent="-228600">
              <a:buFont typeface="Arial" panose="020B0604020202020204" pitchFamily="34" charset="0"/>
              <a:buChar char="•"/>
            </a:pPr>
            <a:r>
              <a:rPr lang="en-US" sz="1700"/>
              <a:t>Here's an overview of some popular examples:</a:t>
            </a:r>
          </a:p>
          <a:p>
            <a:pPr marL="285750" indent="-228600">
              <a:buFont typeface="Arial" panose="020B0604020202020204" pitchFamily="34" charset="0"/>
              <a:buChar char="•"/>
            </a:pPr>
            <a:r>
              <a:rPr lang="en-US" sz="1700" b="1"/>
              <a:t>Linear Regression</a:t>
            </a:r>
            <a:r>
              <a:rPr lang="en-US" sz="1700"/>
              <a:t>: Models linear relationships between features and a continuous target variable. (e.g., Predicting housing prices based on size and location)</a:t>
            </a:r>
          </a:p>
          <a:p>
            <a:pPr marL="285750" indent="-228600">
              <a:buFont typeface="Arial" panose="020B0604020202020204" pitchFamily="34" charset="0"/>
              <a:buChar char="•"/>
            </a:pPr>
            <a:r>
              <a:rPr lang="en-US" sz="1700" b="1"/>
              <a:t>Decision Tree</a:t>
            </a:r>
            <a:r>
              <a:rPr lang="en-US" sz="1700"/>
              <a:t>: Classifies data by constructing a tree-like structure of questions and decisions. (e.g., Spam email detection)</a:t>
            </a:r>
            <a:br>
              <a:rPr lang="en-US" sz="1700"/>
            </a:br>
            <a:endParaRPr lang="en-US" sz="1700"/>
          </a:p>
        </p:txBody>
      </p:sp>
      <p:pic>
        <p:nvPicPr>
          <p:cNvPr id="36" name="Picture 35">
            <a:extLst>
              <a:ext uri="{FF2B5EF4-FFF2-40B4-BE49-F238E27FC236}">
                <a16:creationId xmlns:a16="http://schemas.microsoft.com/office/drawing/2014/main" id="{EB84B6C5-C233-7D34-6819-E489A752C360}"/>
              </a:ext>
            </a:extLst>
          </p:cNvPr>
          <p:cNvPicPr>
            <a:picLocks noChangeAspect="1"/>
          </p:cNvPicPr>
          <p:nvPr/>
        </p:nvPicPr>
        <p:blipFill>
          <a:blip r:embed="rId3"/>
          <a:stretch>
            <a:fillRect/>
          </a:stretch>
        </p:blipFill>
        <p:spPr>
          <a:xfrm>
            <a:off x="7404435" y="3613150"/>
            <a:ext cx="3827720" cy="2743200"/>
          </a:xfrm>
          <a:prstGeom prst="rect">
            <a:avLst/>
          </a:prstGeom>
        </p:spPr>
      </p:pic>
      <p:pic>
        <p:nvPicPr>
          <p:cNvPr id="17" name="Picture 16">
            <a:extLst>
              <a:ext uri="{FF2B5EF4-FFF2-40B4-BE49-F238E27FC236}">
                <a16:creationId xmlns:a16="http://schemas.microsoft.com/office/drawing/2014/main" id="{F22B95E5-8226-CD2B-5A5D-49F41CF7DA20}"/>
              </a:ext>
            </a:extLst>
          </p:cNvPr>
          <p:cNvPicPr>
            <a:picLocks noChangeAspect="1"/>
          </p:cNvPicPr>
          <p:nvPr/>
        </p:nvPicPr>
        <p:blipFill>
          <a:blip r:embed="rId4"/>
          <a:stretch>
            <a:fillRect/>
          </a:stretch>
        </p:blipFill>
        <p:spPr>
          <a:xfrm>
            <a:off x="6883503" y="434975"/>
            <a:ext cx="4869584" cy="2743200"/>
          </a:xfrm>
          <a:prstGeom prst="rect">
            <a:avLst/>
          </a:prstGeom>
        </p:spPr>
      </p:pic>
      <p:sp>
        <p:nvSpPr>
          <p:cNvPr id="5" name="Footer Placeholder 4">
            <a:extLst>
              <a:ext uri="{FF2B5EF4-FFF2-40B4-BE49-F238E27FC236}">
                <a16:creationId xmlns:a16="http://schemas.microsoft.com/office/drawing/2014/main" id="{416A2B2B-CE54-18E2-A7CE-744190680D6F}"/>
              </a:ext>
            </a:extLst>
          </p:cNvPr>
          <p:cNvSpPr>
            <a:spLocks noGrp="1"/>
          </p:cNvSpPr>
          <p:nvPr>
            <p:ph type="ftr" sz="quarter" idx="11"/>
          </p:nvPr>
        </p:nvSpPr>
        <p:spPr>
          <a:xfrm>
            <a:off x="6096000" y="6356350"/>
            <a:ext cx="3880104" cy="365125"/>
          </a:xfrm>
        </p:spPr>
        <p:txBody>
          <a:bodyPr vert="horz" lIns="91440" tIns="45720" rIns="91440" bIns="45720" rtlCol="0" anchor="ctr">
            <a:normAutofit/>
          </a:bodyPr>
          <a:lstStyle/>
          <a:p>
            <a:pPr algn="l">
              <a:spcAft>
                <a:spcPts val="600"/>
              </a:spcAft>
            </a:pPr>
            <a:r>
              <a:rPr lang="en-US" kern="1200">
                <a:solidFill>
                  <a:schemeClr val="tx1">
                    <a:lumMod val="50000"/>
                    <a:lumOff val="50000"/>
                  </a:schemeClr>
                </a:solidFill>
                <a:latin typeface="+mn-lt"/>
                <a:ea typeface="+mn-ea"/>
                <a:cs typeface="+mn-cs"/>
              </a:rPr>
              <a:t>Youssef A. Khattab</a:t>
            </a:r>
          </a:p>
        </p:txBody>
      </p:sp>
    </p:spTree>
    <p:extLst>
      <p:ext uri="{BB962C8B-B14F-4D97-AF65-F5344CB8AC3E}">
        <p14:creationId xmlns:p14="http://schemas.microsoft.com/office/powerpoint/2010/main" val="4211502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1BD3D4-8925-503A-729E-4D8A8FCA75DB}"/>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2200" kern="1200" dirty="0">
                <a:solidFill>
                  <a:schemeClr val="tx1"/>
                </a:solidFill>
                <a:latin typeface="+mj-lt"/>
                <a:ea typeface="+mj-ea"/>
                <a:cs typeface="+mj-cs"/>
              </a:rPr>
              <a:t>Interactive Activity: Supervised Learning in Action: Predicting Housing Prices</a:t>
            </a:r>
          </a:p>
        </p:txBody>
      </p:sp>
      <p:sp>
        <p:nvSpPr>
          <p:cNvPr id="38"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E20FC9E1-2979-5693-9E4A-D1FB5D326091}"/>
              </a:ext>
            </a:extLst>
          </p:cNvPr>
          <p:cNvSpPr>
            <a:spLocks noGrp="1"/>
          </p:cNvSpPr>
          <p:nvPr>
            <p:ph type="body" sz="half" idx="2"/>
          </p:nvPr>
        </p:nvSpPr>
        <p:spPr>
          <a:xfrm>
            <a:off x="630936" y="2660904"/>
            <a:ext cx="4818888" cy="3547872"/>
          </a:xfrm>
        </p:spPr>
        <p:txBody>
          <a:bodyPr vert="horz" lIns="91440" tIns="45720" rIns="91440" bIns="45720" rtlCol="0" anchor="t">
            <a:normAutofit/>
          </a:bodyPr>
          <a:lstStyle/>
          <a:p>
            <a:pPr indent="-228600">
              <a:buFont typeface="Arial" panose="020B0604020202020204" pitchFamily="34" charset="0"/>
              <a:buChar char="•"/>
            </a:pPr>
            <a:r>
              <a:rPr lang="en-US" sz="2200"/>
              <a:t>Let's apply supervised learning in a practical scenario!</a:t>
            </a:r>
          </a:p>
          <a:p>
            <a:pPr indent="-228600">
              <a:buFont typeface="Arial" panose="020B0604020202020204" pitchFamily="34" charset="0"/>
              <a:buChar char="•"/>
            </a:pPr>
            <a:r>
              <a:rPr lang="en-US" sz="2200"/>
              <a:t>We'll build a model to predict housing prices based on features like size, location, and amenities.</a:t>
            </a:r>
          </a:p>
          <a:p>
            <a:pPr indent="-228600">
              <a:buFont typeface="Arial" panose="020B0604020202020204" pitchFamily="34" charset="0"/>
              <a:buChar char="•"/>
            </a:pPr>
            <a:r>
              <a:rPr lang="en-US" sz="2200"/>
              <a:t>Through this hands-on experience, you'll gain valuable insights into the workings of supervised learning.</a:t>
            </a:r>
          </a:p>
        </p:txBody>
      </p:sp>
      <p:pic>
        <p:nvPicPr>
          <p:cNvPr id="13" name="Picture 12">
            <a:extLst>
              <a:ext uri="{FF2B5EF4-FFF2-40B4-BE49-F238E27FC236}">
                <a16:creationId xmlns:a16="http://schemas.microsoft.com/office/drawing/2014/main" id="{A7468238-EF97-6412-77BB-6D3036B500C7}"/>
              </a:ext>
            </a:extLst>
          </p:cNvPr>
          <p:cNvPicPr>
            <a:picLocks noChangeAspect="1"/>
          </p:cNvPicPr>
          <p:nvPr/>
        </p:nvPicPr>
        <p:blipFill>
          <a:blip r:embed="rId3"/>
          <a:stretch>
            <a:fillRect/>
          </a:stretch>
        </p:blipFill>
        <p:spPr>
          <a:xfrm>
            <a:off x="6099048" y="1368240"/>
            <a:ext cx="5458968" cy="4121519"/>
          </a:xfrm>
          <a:prstGeom prst="rect">
            <a:avLst/>
          </a:prstGeom>
        </p:spPr>
      </p:pic>
      <p:sp>
        <p:nvSpPr>
          <p:cNvPr id="5" name="Footer Placeholder 4">
            <a:extLst>
              <a:ext uri="{FF2B5EF4-FFF2-40B4-BE49-F238E27FC236}">
                <a16:creationId xmlns:a16="http://schemas.microsoft.com/office/drawing/2014/main" id="{13910334-627A-558F-F110-466534EAE645}"/>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Youssef A. Khattab</a:t>
            </a:r>
          </a:p>
        </p:txBody>
      </p:sp>
    </p:spTree>
    <p:extLst>
      <p:ext uri="{BB962C8B-B14F-4D97-AF65-F5344CB8AC3E}">
        <p14:creationId xmlns:p14="http://schemas.microsoft.com/office/powerpoint/2010/main" val="458078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78" name="Rectangle 5177">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B13ECC-668E-9B70-7ADE-BCBF29F8F437}"/>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dirty="0">
                <a:solidFill>
                  <a:schemeClr val="tx1"/>
                </a:solidFill>
                <a:latin typeface="+mj-lt"/>
                <a:ea typeface="+mj-ea"/>
                <a:cs typeface="+mj-cs"/>
              </a:rPr>
              <a:t>How to Start a Machine Learning Project?</a:t>
            </a:r>
          </a:p>
        </p:txBody>
      </p:sp>
      <p:sp>
        <p:nvSpPr>
          <p:cNvPr id="5177"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Machine Learning Project">
            <a:extLst>
              <a:ext uri="{FF2B5EF4-FFF2-40B4-BE49-F238E27FC236}">
                <a16:creationId xmlns:a16="http://schemas.microsoft.com/office/drawing/2014/main" id="{4C90B124-CE58-3FF1-002C-37DDE182A9B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17570"/>
          <a:stretch/>
        </p:blipFill>
        <p:spPr bwMode="auto">
          <a:xfrm>
            <a:off x="638881" y="2316623"/>
            <a:ext cx="11123236" cy="3806952"/>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8">
            <a:extLst>
              <a:ext uri="{FF2B5EF4-FFF2-40B4-BE49-F238E27FC236}">
                <a16:creationId xmlns:a16="http://schemas.microsoft.com/office/drawing/2014/main" id="{DAC6A2F4-A065-DB06-22B6-CE075CDEA8B5}"/>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3416159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Freeform: Shape 25">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8" name="Freeform: Shape 27">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C63D400-7684-A4EC-583F-7B00E26B6FF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Download the Data</a:t>
            </a:r>
          </a:p>
        </p:txBody>
      </p:sp>
      <p:sp>
        <p:nvSpPr>
          <p:cNvPr id="30" name="Rectangle 2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2" name="Rectangle 3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Content Placeholder 5">
            <a:extLst>
              <a:ext uri="{FF2B5EF4-FFF2-40B4-BE49-F238E27FC236}">
                <a16:creationId xmlns:a16="http://schemas.microsoft.com/office/drawing/2014/main" id="{FFD92920-9D82-CBD5-9A40-9B22E95C8BB5}"/>
              </a:ext>
            </a:extLst>
          </p:cNvPr>
          <p:cNvPicPr>
            <a:picLocks noGrp="1" noChangeAspect="1"/>
          </p:cNvPicPr>
          <p:nvPr>
            <p:ph idx="1"/>
          </p:nvPr>
        </p:nvPicPr>
        <p:blipFill>
          <a:blip r:embed="rId2"/>
          <a:stretch>
            <a:fillRect/>
          </a:stretch>
        </p:blipFill>
        <p:spPr>
          <a:xfrm>
            <a:off x="5414356" y="1214425"/>
            <a:ext cx="6408836" cy="4277897"/>
          </a:xfrm>
          <a:prstGeom prst="rect">
            <a:avLst/>
          </a:prstGeom>
        </p:spPr>
      </p:pic>
      <p:sp>
        <p:nvSpPr>
          <p:cNvPr id="4" name="Footer Placeholder 3">
            <a:extLst>
              <a:ext uri="{FF2B5EF4-FFF2-40B4-BE49-F238E27FC236}">
                <a16:creationId xmlns:a16="http://schemas.microsoft.com/office/drawing/2014/main" id="{32302C54-7A01-9B9C-6700-3DFD2DCB88FD}"/>
              </a:ext>
            </a:extLst>
          </p:cNvPr>
          <p:cNvSpPr>
            <a:spLocks noGrp="1"/>
          </p:cNvSpPr>
          <p:nvPr>
            <p:ph type="ftr" sz="quarter" idx="11"/>
          </p:nvPr>
        </p:nvSpPr>
        <p:spPr>
          <a:xfrm>
            <a:off x="5418374" y="6356350"/>
            <a:ext cx="4114800" cy="365125"/>
          </a:xfrm>
        </p:spPr>
        <p:txBody>
          <a:bodyPr vert="horz" lIns="91440" tIns="45720" rIns="91440" bIns="45720" rtlCol="0" anchor="ctr">
            <a:normAutofit/>
          </a:bodyPr>
          <a:lstStyle/>
          <a:p>
            <a:pPr algn="l">
              <a:spcAft>
                <a:spcPts val="600"/>
              </a:spcAft>
            </a:pPr>
            <a:r>
              <a:rPr lang="en-US" kern="1200">
                <a:solidFill>
                  <a:schemeClr val="tx1">
                    <a:lumMod val="50000"/>
                    <a:lumOff val="50000"/>
                  </a:schemeClr>
                </a:solidFill>
                <a:latin typeface="+mn-lt"/>
                <a:ea typeface="+mn-ea"/>
                <a:cs typeface="+mn-cs"/>
              </a:rPr>
              <a:t>Youssef A. Khattab</a:t>
            </a:r>
          </a:p>
        </p:txBody>
      </p:sp>
    </p:spTree>
    <p:extLst>
      <p:ext uri="{BB962C8B-B14F-4D97-AF65-F5344CB8AC3E}">
        <p14:creationId xmlns:p14="http://schemas.microsoft.com/office/powerpoint/2010/main" val="4261007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59AB4C8-9178-4F7A-8404-6890510B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78A7FEC-0317-D5E3-E22D-46ECA6FC96C5}"/>
              </a:ext>
            </a:extLst>
          </p:cNvPr>
          <p:cNvSpPr>
            <a:spLocks noGrp="1"/>
          </p:cNvSpPr>
          <p:nvPr>
            <p:ph type="title"/>
          </p:nvPr>
        </p:nvSpPr>
        <p:spPr>
          <a:xfrm>
            <a:off x="638881" y="457201"/>
            <a:ext cx="10909640" cy="1832654"/>
          </a:xfrm>
        </p:spPr>
        <p:txBody>
          <a:bodyPr vert="horz" lIns="91440" tIns="45720" rIns="91440" bIns="45720" rtlCol="0" anchor="b">
            <a:normAutofit/>
          </a:bodyPr>
          <a:lstStyle/>
          <a:p>
            <a:pPr algn="ctr"/>
            <a:r>
              <a:rPr lang="en-US" sz="6100" kern="1200">
                <a:solidFill>
                  <a:schemeClr val="tx1"/>
                </a:solidFill>
                <a:latin typeface="+mj-lt"/>
                <a:ea typeface="+mj-ea"/>
                <a:cs typeface="+mj-cs"/>
              </a:rPr>
              <a:t>A Quick Look at the Data Structure</a:t>
            </a:r>
          </a:p>
        </p:txBody>
      </p:sp>
      <p:sp>
        <p:nvSpPr>
          <p:cNvPr id="18"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2343912"/>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4A9E85D2-FBA0-659D-191B-012CEA03E012}"/>
              </a:ext>
            </a:extLst>
          </p:cNvPr>
          <p:cNvPicPr>
            <a:picLocks noGrp="1" noChangeAspect="1"/>
          </p:cNvPicPr>
          <p:nvPr>
            <p:ph idx="1"/>
          </p:nvPr>
        </p:nvPicPr>
        <p:blipFill>
          <a:blip r:embed="rId2"/>
          <a:stretch>
            <a:fillRect/>
          </a:stretch>
        </p:blipFill>
        <p:spPr>
          <a:xfrm>
            <a:off x="835386" y="3124200"/>
            <a:ext cx="10518180" cy="3102864"/>
          </a:xfrm>
          <a:prstGeom prst="rect">
            <a:avLst/>
          </a:prstGeom>
        </p:spPr>
      </p:pic>
      <p:sp>
        <p:nvSpPr>
          <p:cNvPr id="4" name="Footer Placeholder 3">
            <a:extLst>
              <a:ext uri="{FF2B5EF4-FFF2-40B4-BE49-F238E27FC236}">
                <a16:creationId xmlns:a16="http://schemas.microsoft.com/office/drawing/2014/main" id="{789ECB29-599C-7BB3-1E99-BDFFD0AE2421}"/>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Youssef A. Khattab</a:t>
            </a:r>
          </a:p>
        </p:txBody>
      </p:sp>
    </p:spTree>
    <p:extLst>
      <p:ext uri="{BB962C8B-B14F-4D97-AF65-F5344CB8AC3E}">
        <p14:creationId xmlns:p14="http://schemas.microsoft.com/office/powerpoint/2010/main" val="3496810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59AB4C8-9178-4F7A-8404-6890510B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0171AC-D5FF-E09C-7EF6-22E4527454EB}"/>
              </a:ext>
            </a:extLst>
          </p:cNvPr>
          <p:cNvSpPr>
            <a:spLocks noGrp="1"/>
          </p:cNvSpPr>
          <p:nvPr>
            <p:ph type="title"/>
          </p:nvPr>
        </p:nvSpPr>
        <p:spPr>
          <a:xfrm>
            <a:off x="638881" y="457201"/>
            <a:ext cx="10909640" cy="1832654"/>
          </a:xfrm>
        </p:spPr>
        <p:txBody>
          <a:bodyPr vert="horz" lIns="91440" tIns="45720" rIns="91440" bIns="45720" rtlCol="0" anchor="b">
            <a:normAutofit/>
          </a:bodyPr>
          <a:lstStyle/>
          <a:p>
            <a:pPr algn="ctr"/>
            <a:r>
              <a:rPr lang="en-US" sz="6100" kern="1200">
                <a:solidFill>
                  <a:schemeClr val="tx1"/>
                </a:solidFill>
                <a:latin typeface="+mj-lt"/>
                <a:ea typeface="+mj-ea"/>
                <a:cs typeface="+mj-cs"/>
              </a:rPr>
              <a:t>Summary</a:t>
            </a:r>
            <a:br>
              <a:rPr lang="en-US" sz="6100" kern="1200">
                <a:solidFill>
                  <a:schemeClr val="tx1"/>
                </a:solidFill>
                <a:latin typeface="+mj-lt"/>
                <a:ea typeface="+mj-ea"/>
                <a:cs typeface="+mj-cs"/>
              </a:rPr>
            </a:br>
            <a:r>
              <a:rPr lang="en-US" sz="6100" kern="1200">
                <a:solidFill>
                  <a:schemeClr val="tx1"/>
                </a:solidFill>
                <a:latin typeface="+mj-lt"/>
                <a:ea typeface="+mj-ea"/>
                <a:cs typeface="+mj-cs"/>
              </a:rPr>
              <a:t>of the numerical attributes</a:t>
            </a:r>
          </a:p>
        </p:txBody>
      </p:sp>
      <p:sp>
        <p:nvSpPr>
          <p:cNvPr id="13"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2343912"/>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A44946B6-162C-940F-079A-BD2CF9903075}"/>
              </a:ext>
            </a:extLst>
          </p:cNvPr>
          <p:cNvPicPr>
            <a:picLocks noGrp="1" noChangeAspect="1"/>
          </p:cNvPicPr>
          <p:nvPr>
            <p:ph idx="1"/>
          </p:nvPr>
        </p:nvPicPr>
        <p:blipFill>
          <a:blip r:embed="rId2"/>
          <a:stretch>
            <a:fillRect/>
          </a:stretch>
        </p:blipFill>
        <p:spPr>
          <a:xfrm>
            <a:off x="2199667" y="3124200"/>
            <a:ext cx="7789617" cy="3102864"/>
          </a:xfrm>
          <a:prstGeom prst="rect">
            <a:avLst/>
          </a:prstGeom>
        </p:spPr>
      </p:pic>
      <p:sp>
        <p:nvSpPr>
          <p:cNvPr id="4" name="Footer Placeholder 3">
            <a:extLst>
              <a:ext uri="{FF2B5EF4-FFF2-40B4-BE49-F238E27FC236}">
                <a16:creationId xmlns:a16="http://schemas.microsoft.com/office/drawing/2014/main" id="{2059395F-9A7A-0406-58FF-A41BB3419DAD}"/>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Youssef A. Khattab</a:t>
            </a:r>
          </a:p>
        </p:txBody>
      </p:sp>
    </p:spTree>
    <p:extLst>
      <p:ext uri="{BB962C8B-B14F-4D97-AF65-F5344CB8AC3E}">
        <p14:creationId xmlns:p14="http://schemas.microsoft.com/office/powerpoint/2010/main" val="627073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3EEA84-BB0C-28A8-9993-B1BB210AC658}"/>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kern="1200">
                <a:solidFill>
                  <a:schemeClr val="tx1"/>
                </a:solidFill>
                <a:latin typeface="+mj-lt"/>
                <a:ea typeface="+mj-ea"/>
                <a:cs typeface="+mj-cs"/>
              </a:rPr>
              <a:t>Visualize histogram for each numerical</a:t>
            </a:r>
            <a:br>
              <a:rPr lang="en-US" sz="4600" kern="1200">
                <a:solidFill>
                  <a:schemeClr val="tx1"/>
                </a:solidFill>
                <a:latin typeface="+mj-lt"/>
                <a:ea typeface="+mj-ea"/>
                <a:cs typeface="+mj-cs"/>
              </a:rPr>
            </a:br>
            <a:r>
              <a:rPr lang="en-US" sz="4600" kern="1200">
                <a:solidFill>
                  <a:schemeClr val="tx1"/>
                </a:solidFill>
                <a:latin typeface="+mj-lt"/>
                <a:ea typeface="+mj-ea"/>
                <a:cs typeface="+mj-cs"/>
              </a:rPr>
              <a:t>attribute</a:t>
            </a:r>
          </a:p>
        </p:txBody>
      </p:sp>
      <p:sp>
        <p:nvSpPr>
          <p:cNvPr id="205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E545EE9E-9399-A418-D443-3505DD655EC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654296" y="709803"/>
            <a:ext cx="7214616" cy="5410961"/>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C95CDC94-74E6-97AA-DAE6-C970C785DB4D}"/>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dirty="0">
                <a:solidFill>
                  <a:schemeClr val="tx1">
                    <a:tint val="75000"/>
                  </a:schemeClr>
                </a:solidFill>
                <a:latin typeface="+mn-lt"/>
                <a:ea typeface="+mn-ea"/>
                <a:cs typeface="+mn-cs"/>
              </a:rPr>
              <a:t>Youssef A. Khattab</a:t>
            </a:r>
          </a:p>
        </p:txBody>
      </p:sp>
    </p:spTree>
    <p:extLst>
      <p:ext uri="{BB962C8B-B14F-4D97-AF65-F5344CB8AC3E}">
        <p14:creationId xmlns:p14="http://schemas.microsoft.com/office/powerpoint/2010/main" val="2089417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7" name="Rectangle 3086">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9DD3-BAF4-0AD7-F51B-C060F0F20810}"/>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3600" kern="1200">
                <a:solidFill>
                  <a:schemeClr val="tx1"/>
                </a:solidFill>
                <a:latin typeface="+mj-lt"/>
                <a:ea typeface="+mj-ea"/>
                <a:cs typeface="+mj-cs"/>
              </a:rPr>
              <a:t>Visualizing Geographical Data</a:t>
            </a:r>
          </a:p>
        </p:txBody>
      </p:sp>
      <p:sp>
        <p:nvSpPr>
          <p:cNvPr id="308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82" name="Picture 10">
            <a:extLst>
              <a:ext uri="{FF2B5EF4-FFF2-40B4-BE49-F238E27FC236}">
                <a16:creationId xmlns:a16="http://schemas.microsoft.com/office/drawing/2014/main" id="{6AC9DF20-6547-3C8A-76CD-310F7BE6D90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654296" y="745876"/>
            <a:ext cx="7214616" cy="5338815"/>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224D79C0-5319-C07B-24E0-ED985EAC7EBD}"/>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Youssef A. Khattab</a:t>
            </a:r>
          </a:p>
        </p:txBody>
      </p:sp>
    </p:spTree>
    <p:extLst>
      <p:ext uri="{BB962C8B-B14F-4D97-AF65-F5344CB8AC3E}">
        <p14:creationId xmlns:p14="http://schemas.microsoft.com/office/powerpoint/2010/main" val="759525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9B9E8A9-352D-4DCB-9485-C777000D4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00DA2C-816A-5C99-9372-AD73525BC8B8}"/>
              </a:ext>
            </a:extLst>
          </p:cNvPr>
          <p:cNvSpPr>
            <a:spLocks noGrp="1"/>
          </p:cNvSpPr>
          <p:nvPr>
            <p:ph type="title"/>
          </p:nvPr>
        </p:nvSpPr>
        <p:spPr>
          <a:xfrm>
            <a:off x="612648" y="1078992"/>
            <a:ext cx="6272784" cy="1536192"/>
          </a:xfrm>
        </p:spPr>
        <p:txBody>
          <a:bodyPr vert="horz" lIns="91440" tIns="45720" rIns="91440" bIns="45720" rtlCol="0" anchor="b">
            <a:normAutofit/>
          </a:bodyPr>
          <a:lstStyle/>
          <a:p>
            <a:r>
              <a:rPr lang="en-US" sz="5200" kern="1200">
                <a:latin typeface="+mj-lt"/>
                <a:ea typeface="+mj-ea"/>
                <a:cs typeface="+mj-cs"/>
              </a:rPr>
              <a:t>Looking for Correlations</a:t>
            </a:r>
          </a:p>
        </p:txBody>
      </p:sp>
      <p:sp>
        <p:nvSpPr>
          <p:cNvPr id="21" name="Rectangle 20">
            <a:extLst>
              <a:ext uri="{FF2B5EF4-FFF2-40B4-BE49-F238E27FC236}">
                <a16:creationId xmlns:a16="http://schemas.microsoft.com/office/drawing/2014/main" id="{C2A9B0E5-C2C1-4B85-99A9-117A659D5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3A8AEACA-9535-4BE8-A91B-8BE82BA54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888AE44D-DBF4-0661-C02B-579CF13044C5}"/>
              </a:ext>
            </a:extLst>
          </p:cNvPr>
          <p:cNvPicPr>
            <a:picLocks noChangeAspect="1"/>
          </p:cNvPicPr>
          <p:nvPr/>
        </p:nvPicPr>
        <p:blipFill>
          <a:blip r:embed="rId2"/>
          <a:stretch>
            <a:fillRect/>
          </a:stretch>
        </p:blipFill>
        <p:spPr>
          <a:xfrm>
            <a:off x="5378870" y="1152488"/>
            <a:ext cx="6553811" cy="4489360"/>
          </a:xfrm>
          <a:prstGeom prst="rect">
            <a:avLst/>
          </a:prstGeom>
        </p:spPr>
      </p:pic>
      <p:pic>
        <p:nvPicPr>
          <p:cNvPr id="9" name="Picture 8">
            <a:extLst>
              <a:ext uri="{FF2B5EF4-FFF2-40B4-BE49-F238E27FC236}">
                <a16:creationId xmlns:a16="http://schemas.microsoft.com/office/drawing/2014/main" id="{C57736EC-433A-BF34-7D90-9A49D35DF1D9}"/>
              </a:ext>
            </a:extLst>
          </p:cNvPr>
          <p:cNvPicPr>
            <a:picLocks noChangeAspect="1"/>
          </p:cNvPicPr>
          <p:nvPr/>
        </p:nvPicPr>
        <p:blipFill>
          <a:blip r:embed="rId3"/>
          <a:stretch>
            <a:fillRect/>
          </a:stretch>
        </p:blipFill>
        <p:spPr>
          <a:xfrm>
            <a:off x="889778" y="3208582"/>
            <a:ext cx="4229773" cy="2539731"/>
          </a:xfrm>
          <a:prstGeom prst="rect">
            <a:avLst/>
          </a:prstGeom>
        </p:spPr>
      </p:pic>
      <p:sp>
        <p:nvSpPr>
          <p:cNvPr id="4" name="Footer Placeholder 3">
            <a:extLst>
              <a:ext uri="{FF2B5EF4-FFF2-40B4-BE49-F238E27FC236}">
                <a16:creationId xmlns:a16="http://schemas.microsoft.com/office/drawing/2014/main" id="{230AA4C3-5B9D-BB37-83DA-EC977449E68E}"/>
              </a:ext>
            </a:extLst>
          </p:cNvPr>
          <p:cNvSpPr>
            <a:spLocks noGrp="1"/>
          </p:cNvSpPr>
          <p:nvPr>
            <p:ph type="ftr" sz="quarter" idx="11"/>
          </p:nvPr>
        </p:nvSpPr>
        <p:spPr>
          <a:xfrm>
            <a:off x="2404871" y="6356350"/>
            <a:ext cx="4480561" cy="365125"/>
          </a:xfrm>
        </p:spPr>
        <p:txBody>
          <a:bodyPr vert="horz" lIns="91440" tIns="45720" rIns="91440" bIns="45720" rtlCol="0">
            <a:normAutofit/>
          </a:bodyPr>
          <a:lstStyle/>
          <a:p>
            <a:pPr algn="r">
              <a:spcAft>
                <a:spcPts val="600"/>
              </a:spcAft>
            </a:pPr>
            <a:r>
              <a:rPr lang="en-US" kern="1200">
                <a:solidFill>
                  <a:schemeClr val="tx1">
                    <a:lumMod val="50000"/>
                    <a:lumOff val="50000"/>
                  </a:schemeClr>
                </a:solidFill>
                <a:latin typeface="+mn-lt"/>
                <a:ea typeface="+mn-ea"/>
                <a:cs typeface="+mn-cs"/>
              </a:rPr>
              <a:t>Youssef A. Khattab</a:t>
            </a:r>
          </a:p>
        </p:txBody>
      </p:sp>
    </p:spTree>
    <p:extLst>
      <p:ext uri="{BB962C8B-B14F-4D97-AF65-F5344CB8AC3E}">
        <p14:creationId xmlns:p14="http://schemas.microsoft.com/office/powerpoint/2010/main" val="2679346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0" name="Freeform: Shape 39">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2" name="Freeform: Shape 41">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2BAD24C-C7E5-76AF-E2E0-DA5FCB1DD05E}"/>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Create a Test Set (Evaluation)</a:t>
            </a:r>
          </a:p>
        </p:txBody>
      </p:sp>
      <p:sp>
        <p:nvSpPr>
          <p:cNvPr id="44" name="Rectangle 4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6" name="Rectangle 4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Content Placeholder 5" descr="A screenshot of a computer program&#10;&#10;Description automatically generated">
            <a:extLst>
              <a:ext uri="{FF2B5EF4-FFF2-40B4-BE49-F238E27FC236}">
                <a16:creationId xmlns:a16="http://schemas.microsoft.com/office/drawing/2014/main" id="{EBF52E32-A2B6-3CC1-2E3E-665F3B245E4F}"/>
              </a:ext>
            </a:extLst>
          </p:cNvPr>
          <p:cNvPicPr>
            <a:picLocks noGrp="1" noChangeAspect="1"/>
          </p:cNvPicPr>
          <p:nvPr>
            <p:ph idx="1"/>
          </p:nvPr>
        </p:nvPicPr>
        <p:blipFill>
          <a:blip r:embed="rId2"/>
          <a:stretch>
            <a:fillRect/>
          </a:stretch>
        </p:blipFill>
        <p:spPr>
          <a:xfrm>
            <a:off x="5093723" y="1042874"/>
            <a:ext cx="6963601" cy="4772251"/>
          </a:xfrm>
          <a:prstGeom prst="rect">
            <a:avLst/>
          </a:prstGeom>
        </p:spPr>
      </p:pic>
      <p:sp>
        <p:nvSpPr>
          <p:cNvPr id="4" name="Footer Placeholder 3">
            <a:extLst>
              <a:ext uri="{FF2B5EF4-FFF2-40B4-BE49-F238E27FC236}">
                <a16:creationId xmlns:a16="http://schemas.microsoft.com/office/drawing/2014/main" id="{33E06B98-CD64-FE06-F897-924D2FB0C41D}"/>
              </a:ext>
            </a:extLst>
          </p:cNvPr>
          <p:cNvSpPr>
            <a:spLocks noGrp="1"/>
          </p:cNvSpPr>
          <p:nvPr>
            <p:ph type="ftr" sz="quarter" idx="11"/>
          </p:nvPr>
        </p:nvSpPr>
        <p:spPr>
          <a:xfrm>
            <a:off x="5418374" y="6356350"/>
            <a:ext cx="4114800" cy="365125"/>
          </a:xfrm>
        </p:spPr>
        <p:txBody>
          <a:bodyPr vert="horz" lIns="91440" tIns="45720" rIns="91440" bIns="45720" rtlCol="0" anchor="ctr">
            <a:normAutofit/>
          </a:bodyPr>
          <a:lstStyle/>
          <a:p>
            <a:pPr algn="l">
              <a:spcAft>
                <a:spcPts val="600"/>
              </a:spcAft>
            </a:pPr>
            <a:r>
              <a:rPr lang="en-US" kern="1200">
                <a:solidFill>
                  <a:schemeClr val="tx1">
                    <a:lumMod val="50000"/>
                    <a:lumOff val="50000"/>
                  </a:schemeClr>
                </a:solidFill>
                <a:latin typeface="+mn-lt"/>
                <a:ea typeface="+mn-ea"/>
                <a:cs typeface="+mn-cs"/>
              </a:rPr>
              <a:t>Youssef A. Khattab</a:t>
            </a:r>
          </a:p>
        </p:txBody>
      </p:sp>
    </p:spTree>
    <p:extLst>
      <p:ext uri="{BB962C8B-B14F-4D97-AF65-F5344CB8AC3E}">
        <p14:creationId xmlns:p14="http://schemas.microsoft.com/office/powerpoint/2010/main" val="2066849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F522E-0F09-2B49-C091-B8BC048F57DA}"/>
              </a:ext>
            </a:extLst>
          </p:cNvPr>
          <p:cNvSpPr>
            <a:spLocks noGrp="1"/>
          </p:cNvSpPr>
          <p:nvPr>
            <p:ph type="title"/>
          </p:nvPr>
        </p:nvSpPr>
        <p:spPr/>
        <p:txBody>
          <a:bodyPr/>
          <a:lstStyle/>
          <a:p>
            <a:r>
              <a:rPr lang="en-GB" dirty="0"/>
              <a:t>Prepare the Data</a:t>
            </a:r>
          </a:p>
        </p:txBody>
      </p:sp>
      <p:sp>
        <p:nvSpPr>
          <p:cNvPr id="3" name="Content Placeholder 2">
            <a:extLst>
              <a:ext uri="{FF2B5EF4-FFF2-40B4-BE49-F238E27FC236}">
                <a16:creationId xmlns:a16="http://schemas.microsoft.com/office/drawing/2014/main" id="{A294A9F2-13E7-8836-A378-A04E5A87E40D}"/>
              </a:ext>
            </a:extLst>
          </p:cNvPr>
          <p:cNvSpPr>
            <a:spLocks noGrp="1"/>
          </p:cNvSpPr>
          <p:nvPr>
            <p:ph idx="1"/>
          </p:nvPr>
        </p:nvSpPr>
        <p:spPr/>
        <p:txBody>
          <a:bodyPr/>
          <a:lstStyle/>
          <a:p>
            <a:pPr marL="0" indent="0">
              <a:buNone/>
            </a:pPr>
            <a:r>
              <a:rPr lang="en-US" b="1" dirty="0"/>
              <a:t>Data Cleaning</a:t>
            </a:r>
          </a:p>
          <a:p>
            <a:pPr marL="0" indent="0">
              <a:buNone/>
            </a:pPr>
            <a:endParaRPr lang="en-US" b="1" dirty="0"/>
          </a:p>
          <a:p>
            <a:pPr marL="0" indent="0">
              <a:buNone/>
            </a:pPr>
            <a:r>
              <a:rPr lang="en-US" dirty="0"/>
              <a:t>Examples:</a:t>
            </a:r>
          </a:p>
          <a:p>
            <a:r>
              <a:rPr lang="en-US" dirty="0" err="1"/>
              <a:t>housing.dropna</a:t>
            </a:r>
            <a:r>
              <a:rPr lang="en-US" dirty="0"/>
              <a:t>(subset=["</a:t>
            </a:r>
            <a:r>
              <a:rPr lang="en-US" dirty="0" err="1"/>
              <a:t>total_bedrooms</a:t>
            </a:r>
            <a:r>
              <a:rPr lang="en-US" dirty="0"/>
              <a:t>"])    </a:t>
            </a:r>
            <a:r>
              <a:rPr lang="en-US" dirty="0">
                <a:solidFill>
                  <a:srgbClr val="FF0000"/>
                </a:solidFill>
              </a:rPr>
              <a:t># option 1</a:t>
            </a:r>
          </a:p>
          <a:p>
            <a:r>
              <a:rPr lang="en-US" dirty="0" err="1"/>
              <a:t>housing.drop</a:t>
            </a:r>
            <a:r>
              <a:rPr lang="en-US" dirty="0"/>
              <a:t>("</a:t>
            </a:r>
            <a:r>
              <a:rPr lang="en-US" dirty="0" err="1"/>
              <a:t>total_bedrooms</a:t>
            </a:r>
            <a:r>
              <a:rPr lang="en-US" dirty="0"/>
              <a:t>", axis=1)       </a:t>
            </a:r>
            <a:r>
              <a:rPr lang="en-US" dirty="0">
                <a:solidFill>
                  <a:srgbClr val="FF0000"/>
                </a:solidFill>
              </a:rPr>
              <a:t># option 2</a:t>
            </a:r>
          </a:p>
          <a:p>
            <a:r>
              <a:rPr lang="en-US" dirty="0"/>
              <a:t>median = housing["</a:t>
            </a:r>
            <a:r>
              <a:rPr lang="en-US" dirty="0" err="1"/>
              <a:t>total_bedrooms</a:t>
            </a:r>
            <a:r>
              <a:rPr lang="en-US" dirty="0"/>
              <a:t>"].median()  </a:t>
            </a:r>
            <a:r>
              <a:rPr lang="en-US" dirty="0">
                <a:solidFill>
                  <a:srgbClr val="FF0000"/>
                </a:solidFill>
              </a:rPr>
              <a:t># option 3</a:t>
            </a:r>
          </a:p>
          <a:p>
            <a:r>
              <a:rPr lang="en-US" dirty="0"/>
              <a:t>housing["</a:t>
            </a:r>
            <a:r>
              <a:rPr lang="en-US" dirty="0" err="1"/>
              <a:t>total_bedrooms</a:t>
            </a:r>
            <a:r>
              <a:rPr lang="en-US" dirty="0"/>
              <a:t>"].</a:t>
            </a:r>
            <a:r>
              <a:rPr lang="en-US" dirty="0" err="1"/>
              <a:t>fillna</a:t>
            </a:r>
            <a:r>
              <a:rPr lang="en-US" dirty="0"/>
              <a:t>(median, </a:t>
            </a:r>
            <a:r>
              <a:rPr lang="en-US" dirty="0" err="1"/>
              <a:t>inplace</a:t>
            </a:r>
            <a:r>
              <a:rPr lang="en-US" dirty="0"/>
              <a:t>=True)</a:t>
            </a:r>
            <a:endParaRPr lang="en-GB" dirty="0"/>
          </a:p>
        </p:txBody>
      </p:sp>
      <p:sp>
        <p:nvSpPr>
          <p:cNvPr id="4" name="Footer Placeholder 3">
            <a:extLst>
              <a:ext uri="{FF2B5EF4-FFF2-40B4-BE49-F238E27FC236}">
                <a16:creationId xmlns:a16="http://schemas.microsoft.com/office/drawing/2014/main" id="{F9117F9B-4A90-EB14-BF18-06F29AD190EF}"/>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4098796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F522E-0F09-2B49-C091-B8BC048F57DA}"/>
              </a:ext>
            </a:extLst>
          </p:cNvPr>
          <p:cNvSpPr>
            <a:spLocks noGrp="1"/>
          </p:cNvSpPr>
          <p:nvPr>
            <p:ph type="title"/>
          </p:nvPr>
        </p:nvSpPr>
        <p:spPr/>
        <p:txBody>
          <a:bodyPr/>
          <a:lstStyle/>
          <a:p>
            <a:r>
              <a:rPr lang="en-GB" dirty="0"/>
              <a:t>Prepare the Data</a:t>
            </a:r>
          </a:p>
        </p:txBody>
      </p:sp>
      <p:sp>
        <p:nvSpPr>
          <p:cNvPr id="3" name="Content Placeholder 2">
            <a:extLst>
              <a:ext uri="{FF2B5EF4-FFF2-40B4-BE49-F238E27FC236}">
                <a16:creationId xmlns:a16="http://schemas.microsoft.com/office/drawing/2014/main" id="{A294A9F2-13E7-8836-A378-A04E5A87E40D}"/>
              </a:ext>
            </a:extLst>
          </p:cNvPr>
          <p:cNvSpPr>
            <a:spLocks noGrp="1"/>
          </p:cNvSpPr>
          <p:nvPr>
            <p:ph idx="1"/>
          </p:nvPr>
        </p:nvSpPr>
        <p:spPr>
          <a:xfrm>
            <a:off x="838200" y="1825625"/>
            <a:ext cx="10287000" cy="4351338"/>
          </a:xfrm>
        </p:spPr>
        <p:txBody>
          <a:bodyPr>
            <a:normAutofit/>
          </a:bodyPr>
          <a:lstStyle/>
          <a:p>
            <a:pPr marL="0" indent="0">
              <a:buNone/>
            </a:pPr>
            <a:r>
              <a:rPr lang="en-US" b="1" dirty="0"/>
              <a:t>Handling Text and Categorical Attributes</a:t>
            </a:r>
          </a:p>
          <a:p>
            <a:endParaRPr lang="en-US" dirty="0"/>
          </a:p>
          <a:p>
            <a:r>
              <a:rPr lang="en-US" dirty="0" err="1"/>
              <a:t>housing_cat_encoded</a:t>
            </a:r>
            <a:r>
              <a:rPr lang="en-US" dirty="0"/>
              <a:t>=</a:t>
            </a:r>
            <a:r>
              <a:rPr lang="en-US" dirty="0" err="1"/>
              <a:t>ordinal_encoder.fit_transform</a:t>
            </a:r>
            <a:r>
              <a:rPr lang="en-US" dirty="0"/>
              <a:t>(</a:t>
            </a:r>
            <a:r>
              <a:rPr lang="en-US" dirty="0" err="1"/>
              <a:t>housing_cat</a:t>
            </a:r>
            <a:r>
              <a:rPr lang="en-US" dirty="0"/>
              <a:t>)</a:t>
            </a:r>
            <a:r>
              <a:rPr lang="en-US" dirty="0">
                <a:solidFill>
                  <a:srgbClr val="FF0000"/>
                </a:solidFill>
              </a:rPr>
              <a:t># option 1</a:t>
            </a:r>
          </a:p>
          <a:p>
            <a:r>
              <a:rPr lang="en-US" dirty="0"/>
              <a:t>housing_cat_1hot = </a:t>
            </a:r>
            <a:r>
              <a:rPr lang="en-US" dirty="0" err="1"/>
              <a:t>cat_encoder.fit_transform</a:t>
            </a:r>
            <a:r>
              <a:rPr lang="en-US" dirty="0"/>
              <a:t>(</a:t>
            </a:r>
            <a:r>
              <a:rPr lang="en-US" dirty="0" err="1"/>
              <a:t>housing_cat</a:t>
            </a:r>
            <a:r>
              <a:rPr lang="en-US" dirty="0"/>
              <a:t>) </a:t>
            </a:r>
          </a:p>
          <a:p>
            <a:pPr marL="0" indent="0">
              <a:buNone/>
            </a:pPr>
            <a:r>
              <a:rPr lang="en-US" dirty="0">
                <a:solidFill>
                  <a:srgbClr val="FF0000"/>
                </a:solidFill>
              </a:rPr>
              <a:t>  # option 2</a:t>
            </a:r>
          </a:p>
          <a:p>
            <a:r>
              <a:rPr lang="en-US" dirty="0" err="1"/>
              <a:t>cat_encoder</a:t>
            </a:r>
            <a:r>
              <a:rPr lang="en-US" dirty="0"/>
              <a:t> = </a:t>
            </a:r>
            <a:r>
              <a:rPr lang="en-US" dirty="0" err="1"/>
              <a:t>OneHotEncoder</a:t>
            </a:r>
            <a:r>
              <a:rPr lang="en-US" dirty="0"/>
              <a:t>(sparse=False)</a:t>
            </a:r>
          </a:p>
          <a:p>
            <a:r>
              <a:rPr lang="en-US" dirty="0"/>
              <a:t>housing_cat_1hot = </a:t>
            </a:r>
            <a:r>
              <a:rPr lang="en-US" dirty="0" err="1"/>
              <a:t>cat_encoder.fit_transform</a:t>
            </a:r>
            <a:r>
              <a:rPr lang="en-US" dirty="0"/>
              <a:t>(</a:t>
            </a:r>
            <a:r>
              <a:rPr lang="en-US" dirty="0" err="1"/>
              <a:t>housing_cat</a:t>
            </a:r>
            <a:r>
              <a:rPr lang="en-US" dirty="0"/>
              <a:t>)           </a:t>
            </a:r>
            <a:r>
              <a:rPr lang="en-US" dirty="0">
                <a:solidFill>
                  <a:srgbClr val="FF0000"/>
                </a:solidFill>
              </a:rPr>
              <a:t># option 3</a:t>
            </a:r>
          </a:p>
        </p:txBody>
      </p:sp>
      <p:sp>
        <p:nvSpPr>
          <p:cNvPr id="4" name="Footer Placeholder 3">
            <a:extLst>
              <a:ext uri="{FF2B5EF4-FFF2-40B4-BE49-F238E27FC236}">
                <a16:creationId xmlns:a16="http://schemas.microsoft.com/office/drawing/2014/main" id="{F9117F9B-4A90-EB14-BF18-06F29AD190EF}"/>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2235681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E53C6C-8911-AA51-71C6-8FD03DF43D05}"/>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4100" dirty="0"/>
              <a:t>Handling Categorical Attributes Results</a:t>
            </a:r>
          </a:p>
        </p:txBody>
      </p:sp>
      <p:sp>
        <p:nvSpPr>
          <p:cNvPr id="21"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4163C5C3-C265-EF28-2BED-0B33F8A2498F}"/>
              </a:ext>
            </a:extLst>
          </p:cNvPr>
          <p:cNvPicPr>
            <a:picLocks noGrp="1" noChangeAspect="1"/>
          </p:cNvPicPr>
          <p:nvPr>
            <p:ph idx="1"/>
          </p:nvPr>
        </p:nvPicPr>
        <p:blipFill>
          <a:blip r:embed="rId2"/>
          <a:stretch>
            <a:fillRect/>
          </a:stretch>
        </p:blipFill>
        <p:spPr>
          <a:xfrm>
            <a:off x="725415" y="2619784"/>
            <a:ext cx="2892570" cy="3600041"/>
          </a:xfrm>
          <a:prstGeom prst="rect">
            <a:avLst/>
          </a:prstGeom>
        </p:spPr>
      </p:pic>
      <p:pic>
        <p:nvPicPr>
          <p:cNvPr id="12" name="Picture 11">
            <a:extLst>
              <a:ext uri="{FF2B5EF4-FFF2-40B4-BE49-F238E27FC236}">
                <a16:creationId xmlns:a16="http://schemas.microsoft.com/office/drawing/2014/main" id="{0DF98946-5568-EE40-5593-EEC7684500B2}"/>
              </a:ext>
            </a:extLst>
          </p:cNvPr>
          <p:cNvPicPr>
            <a:picLocks noChangeAspect="1"/>
          </p:cNvPicPr>
          <p:nvPr/>
        </p:nvPicPr>
        <p:blipFill>
          <a:blip r:embed="rId3"/>
          <a:stretch>
            <a:fillRect/>
          </a:stretch>
        </p:blipFill>
        <p:spPr>
          <a:xfrm>
            <a:off x="4295979" y="2619784"/>
            <a:ext cx="3600041" cy="3600041"/>
          </a:xfrm>
          <a:prstGeom prst="rect">
            <a:avLst/>
          </a:prstGeom>
        </p:spPr>
      </p:pic>
      <p:pic>
        <p:nvPicPr>
          <p:cNvPr id="14" name="Picture 13">
            <a:extLst>
              <a:ext uri="{FF2B5EF4-FFF2-40B4-BE49-F238E27FC236}">
                <a16:creationId xmlns:a16="http://schemas.microsoft.com/office/drawing/2014/main" id="{C9A9476A-072C-8FD9-F011-A8E3EB5243DA}"/>
              </a:ext>
            </a:extLst>
          </p:cNvPr>
          <p:cNvPicPr>
            <a:picLocks noChangeAspect="1"/>
          </p:cNvPicPr>
          <p:nvPr/>
        </p:nvPicPr>
        <p:blipFill>
          <a:blip r:embed="rId4"/>
          <a:stretch>
            <a:fillRect/>
          </a:stretch>
        </p:blipFill>
        <p:spPr>
          <a:xfrm>
            <a:off x="8141208" y="3249674"/>
            <a:ext cx="3758184" cy="2340261"/>
          </a:xfrm>
          <a:prstGeom prst="rect">
            <a:avLst/>
          </a:prstGeom>
        </p:spPr>
      </p:pic>
      <p:sp>
        <p:nvSpPr>
          <p:cNvPr id="4" name="Footer Placeholder 3">
            <a:extLst>
              <a:ext uri="{FF2B5EF4-FFF2-40B4-BE49-F238E27FC236}">
                <a16:creationId xmlns:a16="http://schemas.microsoft.com/office/drawing/2014/main" id="{B7610E4E-C095-9831-9800-39D6ECAA02F1}"/>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Youssef A. Khattab</a:t>
            </a:r>
          </a:p>
        </p:txBody>
      </p:sp>
    </p:spTree>
    <p:extLst>
      <p:ext uri="{BB962C8B-B14F-4D97-AF65-F5344CB8AC3E}">
        <p14:creationId xmlns:p14="http://schemas.microsoft.com/office/powerpoint/2010/main" val="1266200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EEAFD-2F68-7BA9-C1EE-1AEB3A76B078}"/>
              </a:ext>
            </a:extLst>
          </p:cNvPr>
          <p:cNvSpPr>
            <a:spLocks noGrp="1"/>
          </p:cNvSpPr>
          <p:nvPr>
            <p:ph type="title"/>
          </p:nvPr>
        </p:nvSpPr>
        <p:spPr/>
        <p:txBody>
          <a:bodyPr/>
          <a:lstStyle/>
          <a:p>
            <a:r>
              <a:rPr lang="en-GB" dirty="0"/>
              <a:t>Feature Scaling and Transformation</a:t>
            </a:r>
          </a:p>
        </p:txBody>
      </p:sp>
      <p:sp>
        <p:nvSpPr>
          <p:cNvPr id="3" name="Content Placeholder 2">
            <a:extLst>
              <a:ext uri="{FF2B5EF4-FFF2-40B4-BE49-F238E27FC236}">
                <a16:creationId xmlns:a16="http://schemas.microsoft.com/office/drawing/2014/main" id="{2AC7718E-DB67-0B24-D086-01FA9C1C169A}"/>
              </a:ext>
            </a:extLst>
          </p:cNvPr>
          <p:cNvSpPr>
            <a:spLocks noGrp="1"/>
          </p:cNvSpPr>
          <p:nvPr>
            <p:ph idx="1"/>
          </p:nvPr>
        </p:nvSpPr>
        <p:spPr>
          <a:xfrm>
            <a:off x="838200" y="1825625"/>
            <a:ext cx="10515600" cy="5015706"/>
          </a:xfrm>
        </p:spPr>
        <p:txBody>
          <a:bodyPr>
            <a:normAutofit/>
          </a:bodyPr>
          <a:lstStyle/>
          <a:p>
            <a:pPr marL="0" indent="0">
              <a:buNone/>
            </a:pPr>
            <a:r>
              <a:rPr lang="en-US" sz="2000" dirty="0"/>
              <a:t>One of the most important transformations you need to apply to your data is feature scaling. With few exceptions, machine learning algorithms don’t perform well when the input numerical attributes have very different scales.</a:t>
            </a:r>
          </a:p>
          <a:p>
            <a:pPr marL="0" indent="0">
              <a:buNone/>
            </a:pPr>
            <a:r>
              <a:rPr lang="en-US" sz="2000" b="1" dirty="0"/>
              <a:t>Min-max scaling </a:t>
            </a:r>
            <a:r>
              <a:rPr lang="en-US" sz="1800" b="1" dirty="0"/>
              <a:t>(ranging from 0 to 1)</a:t>
            </a:r>
          </a:p>
          <a:p>
            <a:pPr>
              <a:buFont typeface="Wingdings" panose="05000000000000000000" pitchFamily="2" charset="2"/>
              <a:buChar char="Ø"/>
            </a:pPr>
            <a:r>
              <a:rPr lang="en-US" sz="1800" b="1" i="0" u="none" strike="noStrike" baseline="0" dirty="0">
                <a:solidFill>
                  <a:srgbClr val="00669A"/>
                </a:solidFill>
                <a:latin typeface="LiberationMono-Bold"/>
              </a:rPr>
              <a:t>from </a:t>
            </a:r>
            <a:r>
              <a:rPr lang="en-US" sz="1800" b="1" i="0" u="none" strike="noStrike" baseline="0" dirty="0" err="1">
                <a:solidFill>
                  <a:srgbClr val="00CDFF"/>
                </a:solidFill>
                <a:latin typeface="LiberationMono-Bold"/>
              </a:rPr>
              <a:t>sklearn.preprocessing</a:t>
            </a:r>
            <a:r>
              <a:rPr lang="en-US" sz="1800" b="1" i="0" u="none" strike="noStrike" baseline="0" dirty="0">
                <a:solidFill>
                  <a:srgbClr val="00CDFF"/>
                </a:solidFill>
                <a:latin typeface="LiberationMono-Bold"/>
              </a:rPr>
              <a:t> </a:t>
            </a:r>
            <a:r>
              <a:rPr lang="en-US" sz="1800" b="1" i="0" u="none" strike="noStrike" baseline="0" dirty="0">
                <a:solidFill>
                  <a:srgbClr val="00669A"/>
                </a:solidFill>
                <a:latin typeface="LiberationMono-Bold"/>
              </a:rPr>
              <a:t>import </a:t>
            </a:r>
            <a:r>
              <a:rPr lang="en-US" sz="1800" b="0" i="0" u="none" strike="noStrike" baseline="0" dirty="0" err="1">
                <a:solidFill>
                  <a:srgbClr val="000089"/>
                </a:solidFill>
                <a:latin typeface="LiberationMono"/>
              </a:rPr>
              <a:t>MinMaxScaler</a:t>
            </a:r>
            <a:endParaRPr lang="en-US" sz="1800" b="0" i="0" u="none" strike="noStrike" baseline="0" dirty="0">
              <a:solidFill>
                <a:srgbClr val="000089"/>
              </a:solidFill>
              <a:latin typeface="LiberationMono"/>
            </a:endParaRPr>
          </a:p>
          <a:p>
            <a:pPr algn="l">
              <a:buFont typeface="Wingdings" panose="05000000000000000000" pitchFamily="2" charset="2"/>
              <a:buChar char="Ø"/>
            </a:pPr>
            <a:r>
              <a:rPr lang="en-GB" sz="1800" b="0" i="0" u="none" strike="noStrike" baseline="0" dirty="0" err="1">
                <a:solidFill>
                  <a:srgbClr val="000089"/>
                </a:solidFill>
                <a:latin typeface="LiberationMono"/>
              </a:rPr>
              <a:t>min_max_scaler</a:t>
            </a:r>
            <a:r>
              <a:rPr lang="en-GB" sz="1800" b="0" i="0" u="none" strike="noStrike" baseline="0" dirty="0">
                <a:solidFill>
                  <a:srgbClr val="000089"/>
                </a:solidFill>
                <a:latin typeface="LiberationMono"/>
              </a:rPr>
              <a:t> </a:t>
            </a:r>
            <a:r>
              <a:rPr lang="en-GB" sz="1800" b="0" i="0" u="none" strike="noStrike" baseline="0" dirty="0">
                <a:solidFill>
                  <a:srgbClr val="555555"/>
                </a:solidFill>
                <a:latin typeface="LiberationMono"/>
              </a:rPr>
              <a:t>= </a:t>
            </a:r>
            <a:r>
              <a:rPr lang="en-GB" sz="1800" b="0" i="0" u="none" strike="noStrike" baseline="0" dirty="0" err="1">
                <a:solidFill>
                  <a:srgbClr val="000089"/>
                </a:solidFill>
                <a:latin typeface="LiberationMono"/>
              </a:rPr>
              <a:t>MinMaxScaler</a:t>
            </a:r>
            <a:r>
              <a:rPr lang="en-GB" sz="1800" b="0" i="0" u="none" strike="noStrike" baseline="0" dirty="0">
                <a:solidFill>
                  <a:srgbClr val="000000"/>
                </a:solidFill>
                <a:latin typeface="LiberationMono"/>
              </a:rPr>
              <a:t>(</a:t>
            </a:r>
            <a:r>
              <a:rPr lang="en-GB" sz="1800" b="0" i="0" u="none" strike="noStrike" baseline="0" dirty="0" err="1">
                <a:solidFill>
                  <a:srgbClr val="000089"/>
                </a:solidFill>
                <a:latin typeface="LiberationMono"/>
              </a:rPr>
              <a:t>feature_range</a:t>
            </a:r>
            <a:r>
              <a:rPr lang="en-GB" sz="1800" b="0" i="0" u="none" strike="noStrike" baseline="0" dirty="0">
                <a:solidFill>
                  <a:srgbClr val="555555"/>
                </a:solidFill>
                <a:latin typeface="LiberationMono"/>
              </a:rPr>
              <a:t>=</a:t>
            </a:r>
            <a:r>
              <a:rPr lang="en-GB" sz="1800" b="0" i="0" u="none" strike="noStrike" baseline="0" dirty="0">
                <a:solidFill>
                  <a:srgbClr val="000000"/>
                </a:solidFill>
                <a:latin typeface="LiberationMono"/>
              </a:rPr>
              <a:t>(</a:t>
            </a:r>
            <a:r>
              <a:rPr lang="en-GB" sz="1800" b="0" i="0" u="none" strike="noStrike" baseline="0" dirty="0">
                <a:solidFill>
                  <a:srgbClr val="555555"/>
                </a:solidFill>
                <a:latin typeface="LiberationMono"/>
              </a:rPr>
              <a:t>-</a:t>
            </a:r>
            <a:r>
              <a:rPr lang="en-GB" sz="1800" b="0" i="0" u="none" strike="noStrike" baseline="0" dirty="0">
                <a:solidFill>
                  <a:srgbClr val="FF6600"/>
                </a:solidFill>
                <a:latin typeface="LiberationMono"/>
              </a:rPr>
              <a:t>1</a:t>
            </a:r>
            <a:r>
              <a:rPr lang="en-GB" sz="1800" b="0" i="0" u="none" strike="noStrike" baseline="0" dirty="0">
                <a:solidFill>
                  <a:srgbClr val="000000"/>
                </a:solidFill>
                <a:latin typeface="LiberationMono"/>
              </a:rPr>
              <a:t>, </a:t>
            </a:r>
            <a:r>
              <a:rPr lang="en-GB" sz="1800" b="0" i="0" u="none" strike="noStrike" baseline="0" dirty="0">
                <a:solidFill>
                  <a:srgbClr val="FF6600"/>
                </a:solidFill>
                <a:latin typeface="LiberationMono"/>
              </a:rPr>
              <a:t>1</a:t>
            </a:r>
            <a:r>
              <a:rPr lang="en-GB" sz="1800" b="0" i="0" u="none" strike="noStrike" baseline="0" dirty="0">
                <a:solidFill>
                  <a:srgbClr val="000000"/>
                </a:solidFill>
                <a:latin typeface="LiberationMono"/>
              </a:rPr>
              <a:t>))</a:t>
            </a:r>
          </a:p>
          <a:p>
            <a:pPr algn="l">
              <a:buFont typeface="Wingdings" panose="05000000000000000000" pitchFamily="2" charset="2"/>
              <a:buChar char="Ø"/>
            </a:pPr>
            <a:r>
              <a:rPr lang="en-US" sz="1800" b="0" i="0" u="none" strike="noStrike" baseline="0" dirty="0" err="1">
                <a:solidFill>
                  <a:srgbClr val="000089"/>
                </a:solidFill>
                <a:latin typeface="LiberationMono"/>
              </a:rPr>
              <a:t>housing_num_min_max_scaled</a:t>
            </a:r>
            <a:r>
              <a:rPr lang="en-US" sz="1800" b="0" i="0" u="none" strike="noStrike" baseline="0" dirty="0">
                <a:solidFill>
                  <a:srgbClr val="000089"/>
                </a:solidFill>
                <a:latin typeface="LiberationMono"/>
              </a:rPr>
              <a:t> </a:t>
            </a:r>
            <a:r>
              <a:rPr lang="en-US" sz="1800" b="0" i="0" u="none" strike="noStrike" baseline="0" dirty="0">
                <a:solidFill>
                  <a:srgbClr val="555555"/>
                </a:solidFill>
                <a:latin typeface="LiberationMono"/>
              </a:rPr>
              <a:t>= </a:t>
            </a:r>
            <a:r>
              <a:rPr lang="en-US" sz="1800" b="0" i="0" u="none" strike="noStrike" baseline="0" dirty="0" err="1">
                <a:solidFill>
                  <a:srgbClr val="000089"/>
                </a:solidFill>
                <a:latin typeface="LiberationMono"/>
              </a:rPr>
              <a:t>min_max_scaler</a:t>
            </a:r>
            <a:r>
              <a:rPr lang="en-US" sz="1800" b="0" i="0" u="none" strike="noStrike" baseline="0" dirty="0" err="1">
                <a:solidFill>
                  <a:srgbClr val="555555"/>
                </a:solidFill>
                <a:latin typeface="LiberationMono"/>
              </a:rPr>
              <a:t>.</a:t>
            </a:r>
            <a:r>
              <a:rPr lang="en-US" sz="1800" b="0" i="0" u="none" strike="noStrike" baseline="0" dirty="0" err="1">
                <a:solidFill>
                  <a:srgbClr val="000089"/>
                </a:solidFill>
                <a:latin typeface="LiberationMono"/>
              </a:rPr>
              <a:t>fit_transform</a:t>
            </a:r>
            <a:r>
              <a:rPr lang="en-US" sz="1800" b="0" i="0" u="none" strike="noStrike" baseline="0" dirty="0">
                <a:solidFill>
                  <a:srgbClr val="000000"/>
                </a:solidFill>
                <a:latin typeface="LiberationMono"/>
              </a:rPr>
              <a:t>(</a:t>
            </a:r>
            <a:r>
              <a:rPr lang="en-US" sz="1800" b="0" i="0" u="none" strike="noStrike" baseline="0" dirty="0" err="1">
                <a:solidFill>
                  <a:srgbClr val="000089"/>
                </a:solidFill>
                <a:latin typeface="LiberationMono"/>
              </a:rPr>
              <a:t>housing_num</a:t>
            </a:r>
            <a:r>
              <a:rPr lang="en-US" sz="1800" b="0" i="0" u="none" strike="noStrike" baseline="0" dirty="0">
                <a:solidFill>
                  <a:srgbClr val="000000"/>
                </a:solidFill>
                <a:latin typeface="LiberationMono"/>
              </a:rPr>
              <a:t>)</a:t>
            </a:r>
          </a:p>
          <a:p>
            <a:pPr algn="l">
              <a:buFont typeface="Wingdings" panose="05000000000000000000" pitchFamily="2" charset="2"/>
              <a:buChar char="Ø"/>
            </a:pPr>
            <a:endParaRPr lang="en-US" sz="1800" b="0" i="0" u="none" strike="noStrike" baseline="0" dirty="0">
              <a:solidFill>
                <a:srgbClr val="000000"/>
              </a:solidFill>
              <a:latin typeface="LiberationMono"/>
            </a:endParaRPr>
          </a:p>
          <a:p>
            <a:pPr marL="0" indent="0" algn="l">
              <a:buNone/>
            </a:pPr>
            <a:r>
              <a:rPr lang="en-US" sz="2000" b="1" dirty="0">
                <a:solidFill>
                  <a:srgbClr val="000000"/>
                </a:solidFill>
              </a:rPr>
              <a:t>Standardization</a:t>
            </a:r>
            <a:r>
              <a:rPr lang="en-US" sz="1800" dirty="0">
                <a:solidFill>
                  <a:srgbClr val="000000"/>
                </a:solidFill>
              </a:rPr>
              <a:t>: first subtracts the mean value (so standardized values have a zero mean), then it divides the result by the standard deviation (so standardized values have a standard deviation equal to 1).</a:t>
            </a:r>
          </a:p>
          <a:p>
            <a:pPr algn="l">
              <a:buFont typeface="Wingdings" panose="05000000000000000000" pitchFamily="2" charset="2"/>
              <a:buChar char="Ø"/>
            </a:pPr>
            <a:r>
              <a:rPr lang="en-US" sz="1800" b="1" i="0" u="none" strike="noStrike" baseline="0" dirty="0">
                <a:solidFill>
                  <a:srgbClr val="00669A"/>
                </a:solidFill>
                <a:latin typeface="LiberationMono-Bold"/>
              </a:rPr>
              <a:t>from </a:t>
            </a:r>
            <a:r>
              <a:rPr lang="en-US" sz="1800" b="1" i="0" u="none" strike="noStrike" baseline="0" dirty="0" err="1">
                <a:solidFill>
                  <a:srgbClr val="00CDFF"/>
                </a:solidFill>
                <a:latin typeface="LiberationMono-Bold"/>
              </a:rPr>
              <a:t>sklearn.preprocessing</a:t>
            </a:r>
            <a:r>
              <a:rPr lang="en-US" sz="1800" b="1" i="0" u="none" strike="noStrike" baseline="0" dirty="0">
                <a:solidFill>
                  <a:srgbClr val="00CDFF"/>
                </a:solidFill>
                <a:latin typeface="LiberationMono-Bold"/>
              </a:rPr>
              <a:t> </a:t>
            </a:r>
            <a:r>
              <a:rPr lang="en-US" sz="1800" b="1" i="0" u="none" strike="noStrike" baseline="0" dirty="0">
                <a:solidFill>
                  <a:srgbClr val="00669A"/>
                </a:solidFill>
                <a:latin typeface="LiberationMono-Bold"/>
              </a:rPr>
              <a:t>import </a:t>
            </a:r>
            <a:r>
              <a:rPr lang="en-US" sz="1800" b="0" i="0" u="none" strike="noStrike" baseline="0" dirty="0" err="1">
                <a:solidFill>
                  <a:srgbClr val="000089"/>
                </a:solidFill>
                <a:latin typeface="LiberationMono"/>
              </a:rPr>
              <a:t>StandardScaler</a:t>
            </a:r>
            <a:endParaRPr lang="en-US" sz="1800" dirty="0">
              <a:solidFill>
                <a:srgbClr val="000089"/>
              </a:solidFill>
              <a:latin typeface="LiberationMono"/>
            </a:endParaRPr>
          </a:p>
          <a:p>
            <a:pPr algn="l">
              <a:buFont typeface="Wingdings" panose="05000000000000000000" pitchFamily="2" charset="2"/>
              <a:buChar char="Ø"/>
            </a:pPr>
            <a:r>
              <a:rPr lang="en-GB" sz="1800" b="0" i="0" u="none" strike="noStrike" baseline="0" dirty="0" err="1">
                <a:solidFill>
                  <a:srgbClr val="000089"/>
                </a:solidFill>
                <a:latin typeface="LiberationMono"/>
              </a:rPr>
              <a:t>std_scaler</a:t>
            </a:r>
            <a:r>
              <a:rPr lang="en-GB" sz="1800" b="0" i="0" u="none" strike="noStrike" baseline="0" dirty="0">
                <a:solidFill>
                  <a:srgbClr val="000089"/>
                </a:solidFill>
                <a:latin typeface="LiberationMono"/>
              </a:rPr>
              <a:t> </a:t>
            </a:r>
            <a:r>
              <a:rPr lang="en-GB" sz="1800" b="0" i="0" u="none" strike="noStrike" baseline="0" dirty="0">
                <a:solidFill>
                  <a:srgbClr val="555555"/>
                </a:solidFill>
                <a:latin typeface="LiberationMono"/>
              </a:rPr>
              <a:t>= </a:t>
            </a:r>
            <a:r>
              <a:rPr lang="en-GB" sz="1800" b="0" i="0" u="none" strike="noStrike" baseline="0" dirty="0" err="1">
                <a:solidFill>
                  <a:srgbClr val="000089"/>
                </a:solidFill>
                <a:latin typeface="LiberationMono"/>
              </a:rPr>
              <a:t>StandardScaler</a:t>
            </a:r>
            <a:r>
              <a:rPr lang="en-GB" sz="1800" b="0" i="0" u="none" strike="noStrike" baseline="0" dirty="0">
                <a:solidFill>
                  <a:srgbClr val="000000"/>
                </a:solidFill>
                <a:latin typeface="LiberationMono"/>
              </a:rPr>
              <a:t>()</a:t>
            </a:r>
          </a:p>
          <a:p>
            <a:pPr algn="l">
              <a:buFont typeface="Wingdings" panose="05000000000000000000" pitchFamily="2" charset="2"/>
              <a:buChar char="Ø"/>
            </a:pPr>
            <a:r>
              <a:rPr lang="en-GB" sz="1800" b="0" i="0" u="none" strike="noStrike" baseline="0" dirty="0" err="1">
                <a:solidFill>
                  <a:srgbClr val="000089"/>
                </a:solidFill>
                <a:latin typeface="LiberationMono"/>
              </a:rPr>
              <a:t>housing_num_std_scaled</a:t>
            </a:r>
            <a:r>
              <a:rPr lang="en-GB" sz="1800" b="0" i="0" u="none" strike="noStrike" baseline="0" dirty="0">
                <a:solidFill>
                  <a:srgbClr val="000089"/>
                </a:solidFill>
                <a:latin typeface="LiberationMono"/>
              </a:rPr>
              <a:t> </a:t>
            </a:r>
            <a:r>
              <a:rPr lang="en-GB" sz="1800" b="0" i="0" u="none" strike="noStrike" baseline="0" dirty="0">
                <a:solidFill>
                  <a:srgbClr val="555555"/>
                </a:solidFill>
                <a:latin typeface="LiberationMono"/>
              </a:rPr>
              <a:t>= </a:t>
            </a:r>
            <a:r>
              <a:rPr lang="en-US" sz="1800" b="0" i="0" u="none" strike="noStrike" baseline="0" dirty="0" err="1">
                <a:solidFill>
                  <a:srgbClr val="000089"/>
                </a:solidFill>
                <a:latin typeface="LiberationMono"/>
              </a:rPr>
              <a:t>std_scaler</a:t>
            </a:r>
            <a:r>
              <a:rPr lang="en-US" sz="1800" b="0" i="0" u="none" strike="noStrike" baseline="0" dirty="0" err="1">
                <a:solidFill>
                  <a:srgbClr val="555555"/>
                </a:solidFill>
                <a:latin typeface="LiberationMono"/>
              </a:rPr>
              <a:t>.</a:t>
            </a:r>
            <a:r>
              <a:rPr lang="en-US" sz="1800" b="0" i="0" u="none" strike="noStrike" baseline="0" dirty="0" err="1">
                <a:solidFill>
                  <a:srgbClr val="000089"/>
                </a:solidFill>
                <a:latin typeface="LiberationMono"/>
              </a:rPr>
              <a:t>fit_transform</a:t>
            </a:r>
            <a:r>
              <a:rPr lang="en-US" sz="1800" b="0" i="0" u="none" strike="noStrike" baseline="0" dirty="0">
                <a:solidFill>
                  <a:srgbClr val="000000"/>
                </a:solidFill>
                <a:latin typeface="LiberationMono"/>
              </a:rPr>
              <a:t>(</a:t>
            </a:r>
            <a:r>
              <a:rPr lang="en-US" sz="1800" b="0" i="0" u="none" strike="noStrike" baseline="0" dirty="0" err="1">
                <a:solidFill>
                  <a:srgbClr val="000089"/>
                </a:solidFill>
                <a:latin typeface="LiberationMono"/>
              </a:rPr>
              <a:t>housing_num</a:t>
            </a:r>
            <a:r>
              <a:rPr lang="en-US" sz="1800" b="0" i="0" u="none" strike="noStrike" baseline="0" dirty="0">
                <a:solidFill>
                  <a:srgbClr val="000000"/>
                </a:solidFill>
                <a:latin typeface="LiberationMono"/>
              </a:rPr>
              <a:t>)</a:t>
            </a:r>
            <a:endParaRPr lang="en-GB" dirty="0"/>
          </a:p>
        </p:txBody>
      </p:sp>
      <p:sp>
        <p:nvSpPr>
          <p:cNvPr id="4" name="Footer Placeholder 3">
            <a:extLst>
              <a:ext uri="{FF2B5EF4-FFF2-40B4-BE49-F238E27FC236}">
                <a16:creationId xmlns:a16="http://schemas.microsoft.com/office/drawing/2014/main" id="{BF0B1CC2-18F4-4B15-37A2-23AF652FDF67}"/>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4191119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83842F-6EF4-119A-2C0B-EC8166297A5B}"/>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dirty="0">
                <a:solidFill>
                  <a:schemeClr val="tx1"/>
                </a:solidFill>
                <a:latin typeface="+mj-lt"/>
                <a:ea typeface="+mj-ea"/>
                <a:cs typeface="+mj-cs"/>
              </a:rPr>
              <a:t>Feature Scaling Result</a:t>
            </a:r>
          </a:p>
        </p:txBody>
      </p:sp>
      <p:sp>
        <p:nvSpPr>
          <p:cNvPr id="13"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30058EF6-7643-BBC7-F2E5-B057E44E87DE}"/>
              </a:ext>
            </a:extLst>
          </p:cNvPr>
          <p:cNvPicPr>
            <a:picLocks noGrp="1" noChangeAspect="1"/>
          </p:cNvPicPr>
          <p:nvPr>
            <p:ph idx="1"/>
          </p:nvPr>
        </p:nvPicPr>
        <p:blipFill>
          <a:blip r:embed="rId2"/>
          <a:stretch>
            <a:fillRect/>
          </a:stretch>
        </p:blipFill>
        <p:spPr>
          <a:xfrm>
            <a:off x="971116" y="2633472"/>
            <a:ext cx="10246719" cy="3586353"/>
          </a:xfrm>
          <a:prstGeom prst="rect">
            <a:avLst/>
          </a:prstGeom>
        </p:spPr>
      </p:pic>
      <p:sp>
        <p:nvSpPr>
          <p:cNvPr id="4" name="Footer Placeholder 3">
            <a:extLst>
              <a:ext uri="{FF2B5EF4-FFF2-40B4-BE49-F238E27FC236}">
                <a16:creationId xmlns:a16="http://schemas.microsoft.com/office/drawing/2014/main" id="{A3A33454-E93D-087B-484D-D36F2F1798EC}"/>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Youssef A. Khattab</a:t>
            </a:r>
          </a:p>
        </p:txBody>
      </p:sp>
    </p:spTree>
    <p:extLst>
      <p:ext uri="{BB962C8B-B14F-4D97-AF65-F5344CB8AC3E}">
        <p14:creationId xmlns:p14="http://schemas.microsoft.com/office/powerpoint/2010/main" val="1405209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BC7AD-AD59-1D00-9A30-FDFEB048C44A}"/>
              </a:ext>
            </a:extLst>
          </p:cNvPr>
          <p:cNvSpPr>
            <a:spLocks noGrp="1"/>
          </p:cNvSpPr>
          <p:nvPr>
            <p:ph type="title"/>
          </p:nvPr>
        </p:nvSpPr>
        <p:spPr/>
        <p:txBody>
          <a:bodyPr/>
          <a:lstStyle/>
          <a:p>
            <a:r>
              <a:rPr lang="en-US" dirty="0"/>
              <a:t>Select and Train a Model</a:t>
            </a:r>
            <a:endParaRPr lang="en-GB" dirty="0"/>
          </a:p>
        </p:txBody>
      </p:sp>
      <p:sp>
        <p:nvSpPr>
          <p:cNvPr id="3" name="Content Placeholder 2">
            <a:extLst>
              <a:ext uri="{FF2B5EF4-FFF2-40B4-BE49-F238E27FC236}">
                <a16:creationId xmlns:a16="http://schemas.microsoft.com/office/drawing/2014/main" id="{8F7AA962-D218-BF7A-DA4E-BEDF3E8CAA93}"/>
              </a:ext>
            </a:extLst>
          </p:cNvPr>
          <p:cNvSpPr>
            <a:spLocks noGrp="1"/>
          </p:cNvSpPr>
          <p:nvPr>
            <p:ph idx="1"/>
          </p:nvPr>
        </p:nvSpPr>
        <p:spPr>
          <a:xfrm>
            <a:off x="838200" y="1825624"/>
            <a:ext cx="10515600" cy="5015707"/>
          </a:xfrm>
        </p:spPr>
        <p:txBody>
          <a:bodyPr>
            <a:normAutofit/>
          </a:bodyPr>
          <a:lstStyle/>
          <a:p>
            <a:pPr marL="0" indent="0">
              <a:buNone/>
            </a:pPr>
            <a:r>
              <a:rPr lang="en-US" dirty="0"/>
              <a:t>At last! You framed the problem, you got the data and explored it, you sampled a training set and a test set, and you wrote a preprocessing pipeline to automatically clean up and prepare your data for machine learning algorithms. You are now ready to select and train a machine learning model. The good news is that thanks to all these previous steps, things are now </a:t>
            </a:r>
            <a:r>
              <a:rPr lang="en-US" b="1" dirty="0"/>
              <a:t>going to be easy</a:t>
            </a:r>
            <a:r>
              <a:rPr lang="en-US" dirty="0"/>
              <a:t>! You decide to train a very basic linear regression model to get started:</a:t>
            </a:r>
          </a:p>
          <a:p>
            <a:pPr marL="0" indent="0">
              <a:buNone/>
            </a:pPr>
            <a:endParaRPr lang="en-US" dirty="0"/>
          </a:p>
          <a:p>
            <a:pPr marL="0" indent="0" algn="l">
              <a:buNone/>
            </a:pPr>
            <a:r>
              <a:rPr lang="en-US" sz="2800" b="1" i="0" u="none" strike="noStrike" baseline="0" dirty="0">
                <a:solidFill>
                  <a:srgbClr val="00009A"/>
                </a:solidFill>
                <a:latin typeface="LiberationMono-Bold"/>
              </a:rPr>
              <a:t>&gt; </a:t>
            </a:r>
            <a:r>
              <a:rPr lang="en-US" sz="2800" b="1" i="0" u="none" strike="noStrike" baseline="0" dirty="0">
                <a:solidFill>
                  <a:srgbClr val="00669A"/>
                </a:solidFill>
                <a:latin typeface="LiberationMono-Bold"/>
              </a:rPr>
              <a:t>from </a:t>
            </a:r>
            <a:r>
              <a:rPr lang="en-US" sz="2800" b="1" i="0" u="none" strike="noStrike" baseline="0" dirty="0" err="1">
                <a:solidFill>
                  <a:srgbClr val="00CDFF"/>
                </a:solidFill>
                <a:latin typeface="LiberationMono-Bold"/>
              </a:rPr>
              <a:t>sklearn.linear_model</a:t>
            </a:r>
            <a:r>
              <a:rPr lang="en-US" sz="2800" b="1" i="0" u="none" strike="noStrike" baseline="0" dirty="0">
                <a:solidFill>
                  <a:srgbClr val="00CDFF"/>
                </a:solidFill>
                <a:latin typeface="LiberationMono-Bold"/>
              </a:rPr>
              <a:t> </a:t>
            </a:r>
            <a:r>
              <a:rPr lang="en-US" sz="2800" b="1" i="0" u="none" strike="noStrike" baseline="0" dirty="0">
                <a:solidFill>
                  <a:srgbClr val="00669A"/>
                </a:solidFill>
                <a:latin typeface="LiberationMono-Bold"/>
              </a:rPr>
              <a:t>import </a:t>
            </a:r>
            <a:r>
              <a:rPr lang="en-US" sz="2800" b="0" i="0" u="none" strike="noStrike" baseline="0" dirty="0" err="1">
                <a:solidFill>
                  <a:srgbClr val="000089"/>
                </a:solidFill>
                <a:latin typeface="LiberationMono"/>
              </a:rPr>
              <a:t>LinearRegression</a:t>
            </a:r>
            <a:endParaRPr lang="en-US" sz="2800" b="0" i="0" u="none" strike="noStrike" baseline="0" dirty="0">
              <a:solidFill>
                <a:srgbClr val="000089"/>
              </a:solidFill>
              <a:latin typeface="LiberationMono"/>
            </a:endParaRPr>
          </a:p>
          <a:p>
            <a:pPr marL="0" indent="0" algn="l">
              <a:buNone/>
            </a:pPr>
            <a:r>
              <a:rPr lang="en-GB" sz="2800" b="1" i="0" u="none" strike="noStrike" baseline="0" dirty="0">
                <a:solidFill>
                  <a:srgbClr val="00009A"/>
                </a:solidFill>
                <a:latin typeface="LiberationMono-Bold"/>
              </a:rPr>
              <a:t>&gt; </a:t>
            </a:r>
            <a:r>
              <a:rPr lang="en-GB" sz="2800" b="0" i="0" u="none" strike="noStrike" baseline="0" dirty="0" err="1">
                <a:solidFill>
                  <a:srgbClr val="000089"/>
                </a:solidFill>
                <a:latin typeface="LiberationMono"/>
              </a:rPr>
              <a:t>lin_reg</a:t>
            </a:r>
            <a:r>
              <a:rPr lang="en-GB" sz="2800" b="0" i="0" u="none" strike="noStrike" baseline="0" dirty="0">
                <a:solidFill>
                  <a:srgbClr val="000089"/>
                </a:solidFill>
                <a:latin typeface="LiberationMono"/>
              </a:rPr>
              <a:t> </a:t>
            </a:r>
            <a:r>
              <a:rPr lang="en-GB" sz="2800" b="0" i="0" u="none" strike="noStrike" baseline="0" dirty="0">
                <a:solidFill>
                  <a:srgbClr val="555555"/>
                </a:solidFill>
                <a:latin typeface="LiberationMono"/>
              </a:rPr>
              <a:t>= </a:t>
            </a:r>
            <a:r>
              <a:rPr lang="en-GB" sz="2800" b="0" i="0" u="none" strike="noStrike" baseline="0" dirty="0" err="1">
                <a:solidFill>
                  <a:srgbClr val="000089"/>
                </a:solidFill>
                <a:latin typeface="LiberationMono"/>
              </a:rPr>
              <a:t>LinearRegression</a:t>
            </a:r>
            <a:r>
              <a:rPr lang="en-GB" sz="2800" b="0" i="0" u="none" strike="noStrike" baseline="0" dirty="0">
                <a:solidFill>
                  <a:srgbClr val="000000"/>
                </a:solidFill>
                <a:latin typeface="LiberationMono"/>
              </a:rPr>
              <a:t>()</a:t>
            </a:r>
          </a:p>
          <a:p>
            <a:pPr marL="0" indent="0" algn="l">
              <a:buNone/>
            </a:pPr>
            <a:r>
              <a:rPr lang="en-GB" sz="2800" b="1" i="0" u="none" strike="noStrike" baseline="0" dirty="0">
                <a:solidFill>
                  <a:srgbClr val="00009A"/>
                </a:solidFill>
                <a:latin typeface="LiberationMono-Bold"/>
              </a:rPr>
              <a:t>&gt; </a:t>
            </a:r>
            <a:r>
              <a:rPr lang="en-GB" sz="2800" b="0" i="0" u="none" strike="noStrike" baseline="0" dirty="0" err="1">
                <a:solidFill>
                  <a:srgbClr val="000089"/>
                </a:solidFill>
                <a:latin typeface="LiberationMono"/>
              </a:rPr>
              <a:t>lin_reg</a:t>
            </a:r>
            <a:r>
              <a:rPr lang="en-GB" sz="2800" b="0" i="0" u="none" strike="noStrike" baseline="0" dirty="0" err="1">
                <a:solidFill>
                  <a:srgbClr val="555555"/>
                </a:solidFill>
                <a:latin typeface="LiberationMono"/>
              </a:rPr>
              <a:t>.</a:t>
            </a:r>
            <a:r>
              <a:rPr lang="en-GB" sz="2800" b="0" i="0" u="none" strike="noStrike" baseline="0" dirty="0" err="1">
                <a:solidFill>
                  <a:srgbClr val="000089"/>
                </a:solidFill>
                <a:latin typeface="LiberationMono"/>
              </a:rPr>
              <a:t>fit</a:t>
            </a:r>
            <a:r>
              <a:rPr lang="en-GB" sz="2800" b="0" i="0" u="none" strike="noStrike" baseline="0" dirty="0">
                <a:solidFill>
                  <a:srgbClr val="000000"/>
                </a:solidFill>
                <a:latin typeface="LiberationMono"/>
              </a:rPr>
              <a:t>(</a:t>
            </a:r>
            <a:r>
              <a:rPr lang="en-GB" sz="2800" b="0" i="0" u="none" strike="noStrike" baseline="0" dirty="0" err="1">
                <a:solidFill>
                  <a:srgbClr val="000089"/>
                </a:solidFill>
                <a:latin typeface="LiberationMono"/>
              </a:rPr>
              <a:t>housing_prepared</a:t>
            </a:r>
            <a:r>
              <a:rPr lang="en-GB" sz="2800" b="0" i="0" u="none" strike="noStrike" baseline="0" dirty="0">
                <a:solidFill>
                  <a:srgbClr val="000089"/>
                </a:solidFill>
                <a:latin typeface="LiberationMono"/>
              </a:rPr>
              <a:t>, </a:t>
            </a:r>
            <a:r>
              <a:rPr lang="en-GB" sz="2800" b="0" i="0" u="none" strike="noStrike" baseline="0" dirty="0" err="1">
                <a:solidFill>
                  <a:srgbClr val="000089"/>
                </a:solidFill>
                <a:latin typeface="LiberationMono"/>
              </a:rPr>
              <a:t>housing_labels</a:t>
            </a:r>
            <a:r>
              <a:rPr lang="en-GB" sz="2800" b="0" i="0" u="none" strike="noStrike" baseline="0" dirty="0">
                <a:solidFill>
                  <a:srgbClr val="000000"/>
                </a:solidFill>
                <a:latin typeface="LiberationMono"/>
              </a:rPr>
              <a:t>)</a:t>
            </a:r>
            <a:endParaRPr lang="en-GB" dirty="0"/>
          </a:p>
        </p:txBody>
      </p:sp>
      <p:sp>
        <p:nvSpPr>
          <p:cNvPr id="4" name="Footer Placeholder 3">
            <a:extLst>
              <a:ext uri="{FF2B5EF4-FFF2-40B4-BE49-F238E27FC236}">
                <a16:creationId xmlns:a16="http://schemas.microsoft.com/office/drawing/2014/main" id="{549CC8E1-255A-ACDB-04D3-FE13DFF3F388}"/>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1600910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1">
            <a:extLst>
              <a:ext uri="{FF2B5EF4-FFF2-40B4-BE49-F238E27FC236}">
                <a16:creationId xmlns:a16="http://schemas.microsoft.com/office/drawing/2014/main" id="{8351213A-D640-57B1-6C9B-54C7E23C265B}"/>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kern="1200">
                <a:solidFill>
                  <a:schemeClr val="tx1"/>
                </a:solidFill>
                <a:latin typeface="+mj-lt"/>
                <a:ea typeface="+mj-ea"/>
                <a:cs typeface="+mj-cs"/>
              </a:rPr>
              <a:t>Model Predictions</a:t>
            </a:r>
          </a:p>
        </p:txBody>
      </p:sp>
      <p:sp>
        <p:nvSpPr>
          <p:cNvPr id="5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a:extLst>
              <a:ext uri="{FF2B5EF4-FFF2-40B4-BE49-F238E27FC236}">
                <a16:creationId xmlns:a16="http://schemas.microsoft.com/office/drawing/2014/main" id="{922A764D-3A3C-4E04-5D1E-EE6DDFBE37C6}"/>
              </a:ext>
            </a:extLst>
          </p:cNvPr>
          <p:cNvPicPr>
            <a:picLocks noChangeAspect="1"/>
          </p:cNvPicPr>
          <p:nvPr/>
        </p:nvPicPr>
        <p:blipFill>
          <a:blip r:embed="rId2"/>
          <a:stretch>
            <a:fillRect/>
          </a:stretch>
        </p:blipFill>
        <p:spPr>
          <a:xfrm>
            <a:off x="4654296" y="1025443"/>
            <a:ext cx="7214616" cy="4779682"/>
          </a:xfrm>
          <a:prstGeom prst="rect">
            <a:avLst/>
          </a:prstGeom>
        </p:spPr>
      </p:pic>
      <p:sp>
        <p:nvSpPr>
          <p:cNvPr id="4" name="Footer Placeholder 3">
            <a:extLst>
              <a:ext uri="{FF2B5EF4-FFF2-40B4-BE49-F238E27FC236}">
                <a16:creationId xmlns:a16="http://schemas.microsoft.com/office/drawing/2014/main" id="{A15A68AC-8B74-4F83-A449-58ACB43E3424}"/>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Youssef A. Khattab</a:t>
            </a:r>
          </a:p>
        </p:txBody>
      </p:sp>
    </p:spTree>
    <p:extLst>
      <p:ext uri="{BB962C8B-B14F-4D97-AF65-F5344CB8AC3E}">
        <p14:creationId xmlns:p14="http://schemas.microsoft.com/office/powerpoint/2010/main" val="317520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830C39-4F81-683E-2D47-AAA6D2692E84}"/>
              </a:ext>
            </a:extLst>
          </p:cNvPr>
          <p:cNvSpPr>
            <a:spLocks noGrp="1"/>
          </p:cNvSpPr>
          <p:nvPr>
            <p:ph type="title"/>
          </p:nvPr>
        </p:nvSpPr>
        <p:spPr>
          <a:xfrm>
            <a:off x="841248" y="548640"/>
            <a:ext cx="3600860" cy="5431536"/>
          </a:xfrm>
        </p:spPr>
        <p:txBody>
          <a:bodyPr>
            <a:normAutofit/>
          </a:bodyPr>
          <a:lstStyle/>
          <a:p>
            <a:r>
              <a:rPr lang="en-GB" sz="4600" dirty="0"/>
              <a:t>Conclusion</a:t>
            </a:r>
          </a:p>
        </p:txBody>
      </p:sp>
      <p:sp>
        <p:nvSpPr>
          <p:cNvPr id="1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2606516-3FBC-40E3-9792-BFC4E91A84C5}"/>
              </a:ext>
            </a:extLst>
          </p:cNvPr>
          <p:cNvSpPr>
            <a:spLocks noGrp="1"/>
          </p:cNvSpPr>
          <p:nvPr>
            <p:ph idx="1"/>
          </p:nvPr>
        </p:nvSpPr>
        <p:spPr>
          <a:xfrm>
            <a:off x="5126418" y="552091"/>
            <a:ext cx="6224335" cy="5431536"/>
          </a:xfrm>
        </p:spPr>
        <p:txBody>
          <a:bodyPr anchor="ctr">
            <a:normAutofit/>
          </a:bodyPr>
          <a:lstStyle/>
          <a:p>
            <a:pPr marL="0" indent="0">
              <a:buNone/>
            </a:pPr>
            <a:r>
              <a:rPr lang="en-US" sz="2200" dirty="0"/>
              <a:t>Today's journey has equipped you with a deeper understanding of machine learning.</a:t>
            </a:r>
          </a:p>
          <a:p>
            <a:pPr marL="0" indent="0">
              <a:buNone/>
            </a:pPr>
            <a:r>
              <a:rPr lang="en-US" sz="2200" dirty="0"/>
              <a:t>We explored supervised and unsupervised learning paradigms, empowering you to harness the power of data for prediction and pattern recognition.</a:t>
            </a:r>
          </a:p>
          <a:p>
            <a:pPr marL="0" indent="0">
              <a:buNone/>
            </a:pPr>
            <a:endParaRPr lang="en-US" sz="2200" dirty="0"/>
          </a:p>
          <a:p>
            <a:pPr marL="0" indent="0">
              <a:buNone/>
            </a:pPr>
            <a:r>
              <a:rPr lang="en-US" sz="2200" b="1" dirty="0"/>
              <a:t>Remember</a:t>
            </a:r>
            <a:r>
              <a:rPr lang="en-US" sz="2200" dirty="0"/>
              <a:t>, machine learning is an ever-evolving field with boundless potential. Keep exploring and learning!</a:t>
            </a:r>
            <a:endParaRPr lang="en-GB" sz="2200" dirty="0"/>
          </a:p>
        </p:txBody>
      </p:sp>
      <p:sp>
        <p:nvSpPr>
          <p:cNvPr id="4" name="Footer Placeholder 3">
            <a:extLst>
              <a:ext uri="{FF2B5EF4-FFF2-40B4-BE49-F238E27FC236}">
                <a16:creationId xmlns:a16="http://schemas.microsoft.com/office/drawing/2014/main" id="{0EC32830-B173-F663-B41E-B2CEB48A6326}"/>
              </a:ext>
            </a:extLst>
          </p:cNvPr>
          <p:cNvSpPr>
            <a:spLocks noGrp="1"/>
          </p:cNvSpPr>
          <p:nvPr>
            <p:ph type="ftr" sz="quarter" idx="11"/>
          </p:nvPr>
        </p:nvSpPr>
        <p:spPr>
          <a:xfrm>
            <a:off x="4038600" y="6356350"/>
            <a:ext cx="4114800" cy="365125"/>
          </a:xfrm>
        </p:spPr>
        <p:txBody>
          <a:bodyPr>
            <a:normAutofit/>
          </a:bodyPr>
          <a:lstStyle/>
          <a:p>
            <a:pPr rtl="0">
              <a:spcAft>
                <a:spcPts val="600"/>
              </a:spcAft>
            </a:pPr>
            <a:r>
              <a:rPr lang="en-US"/>
              <a:t>Youssef A. Khattab</a:t>
            </a:r>
          </a:p>
        </p:txBody>
      </p:sp>
    </p:spTree>
    <p:extLst>
      <p:ext uri="{BB962C8B-B14F-4D97-AF65-F5344CB8AC3E}">
        <p14:creationId xmlns:p14="http://schemas.microsoft.com/office/powerpoint/2010/main" val="3260729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Freeform: Shape 19">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F1CEC76-8767-7655-59D6-1F4B4B26F5AB}"/>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dirty="0"/>
              <a:t>Additional part:</a:t>
            </a:r>
            <a:r>
              <a:rPr lang="en-US" sz="7200" kern="1200" dirty="0">
                <a:solidFill>
                  <a:schemeClr val="tx1"/>
                </a:solidFill>
                <a:latin typeface="+mj-lt"/>
                <a:ea typeface="+mj-ea"/>
                <a:cs typeface="+mj-cs"/>
              </a:rPr>
              <a:t> </a:t>
            </a:r>
            <a:br>
              <a:rPr lang="en-US" sz="7200" kern="1200" dirty="0">
                <a:solidFill>
                  <a:schemeClr val="tx1"/>
                </a:solidFill>
                <a:latin typeface="+mj-lt"/>
                <a:ea typeface="+mj-ea"/>
                <a:cs typeface="+mj-cs"/>
              </a:rPr>
            </a:br>
            <a:r>
              <a:rPr lang="en-US" sz="7200" kern="1200" dirty="0">
                <a:solidFill>
                  <a:schemeClr val="tx1"/>
                </a:solidFill>
                <a:latin typeface="+mj-lt"/>
                <a:ea typeface="+mj-ea"/>
                <a:cs typeface="+mj-cs"/>
              </a:rPr>
              <a:t>ML Journey </a:t>
            </a:r>
          </a:p>
        </p:txBody>
      </p:sp>
      <p:sp>
        <p:nvSpPr>
          <p:cNvPr id="21" name="Rectangle 20">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17789785-32A7-3560-1BB7-E5777649C995}"/>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lumMod val="50000"/>
                    <a:lumOff val="50000"/>
                  </a:schemeClr>
                </a:solidFill>
                <a:latin typeface="+mn-lt"/>
                <a:ea typeface="+mn-ea"/>
                <a:cs typeface="+mn-cs"/>
              </a:rPr>
              <a:t>Youssef A. Khattab</a:t>
            </a:r>
          </a:p>
        </p:txBody>
      </p:sp>
    </p:spTree>
    <p:extLst>
      <p:ext uri="{BB962C8B-B14F-4D97-AF65-F5344CB8AC3E}">
        <p14:creationId xmlns:p14="http://schemas.microsoft.com/office/powerpoint/2010/main" val="3519873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3762D9-7135-7284-C446-8971C208E7A2}"/>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b="1" i="0" kern="1200" dirty="0">
                <a:solidFill>
                  <a:schemeClr val="tx1"/>
                </a:solidFill>
                <a:effectLst/>
                <a:latin typeface="+mj-lt"/>
                <a:ea typeface="+mj-ea"/>
                <a:cs typeface="+mj-cs"/>
              </a:rPr>
              <a:t>Machine Learning Process</a:t>
            </a:r>
            <a:endParaRPr lang="en-US" sz="3700" kern="1200" dirty="0">
              <a:solidFill>
                <a:schemeClr val="tx1"/>
              </a:solidFill>
              <a:latin typeface="+mj-lt"/>
              <a:ea typeface="+mj-ea"/>
              <a:cs typeface="+mj-cs"/>
            </a:endParaRPr>
          </a:p>
        </p:txBody>
      </p:sp>
      <p:sp>
        <p:nvSpPr>
          <p:cNvPr id="11" name="Rectangle 10">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1FEFFC0D-6936-A259-DBE0-8B56F16D4ADA}"/>
              </a:ext>
            </a:extLst>
          </p:cNvPr>
          <p:cNvPicPr>
            <a:picLocks noGrp="1" noChangeAspect="1"/>
          </p:cNvPicPr>
          <p:nvPr>
            <p:ph idx="1"/>
          </p:nvPr>
        </p:nvPicPr>
        <p:blipFill>
          <a:blip r:embed="rId3"/>
          <a:stretch>
            <a:fillRect/>
          </a:stretch>
        </p:blipFill>
        <p:spPr>
          <a:xfrm>
            <a:off x="545238" y="1096394"/>
            <a:ext cx="7608304" cy="4736168"/>
          </a:xfrm>
          <a:prstGeom prst="rect">
            <a:avLst/>
          </a:prstGeom>
        </p:spPr>
      </p:pic>
      <p:sp>
        <p:nvSpPr>
          <p:cNvPr id="15" name="Rectangle 14">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ooter Placeholder 11">
            <a:extLst>
              <a:ext uri="{FF2B5EF4-FFF2-40B4-BE49-F238E27FC236}">
                <a16:creationId xmlns:a16="http://schemas.microsoft.com/office/drawing/2014/main" id="{70B03FBF-A83C-4B7C-DADA-98A57082F41E}"/>
              </a:ext>
            </a:extLst>
          </p:cNvPr>
          <p:cNvSpPr>
            <a:spLocks noGrp="1"/>
          </p:cNvSpPr>
          <p:nvPr>
            <p:ph type="ftr" sz="quarter" idx="11"/>
          </p:nvPr>
        </p:nvSpPr>
        <p:spPr/>
        <p:txBody>
          <a:bodyPr/>
          <a:lstStyle/>
          <a:p>
            <a:pPr rtl="0"/>
            <a:r>
              <a:rPr lang="en-US" dirty="0"/>
              <a:t>Youssef A. Khattab</a:t>
            </a:r>
          </a:p>
        </p:txBody>
      </p:sp>
    </p:spTree>
    <p:extLst>
      <p:ext uri="{BB962C8B-B14F-4D97-AF65-F5344CB8AC3E}">
        <p14:creationId xmlns:p14="http://schemas.microsoft.com/office/powerpoint/2010/main" val="33160238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0997" y="381001"/>
            <a:ext cx="6858001" cy="6095995"/>
          </a:xfrm>
          <a:prstGeom prst="rect">
            <a:avLst/>
          </a:prstGeom>
          <a:ln>
            <a:noFill/>
          </a:ln>
          <a:effectLst>
            <a:outerShdw blurRad="381000" dist="101600" sx="99000" sy="99000" algn="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49A503-4861-098C-21FE-A14D90431F9B}"/>
              </a:ext>
            </a:extLst>
          </p:cNvPr>
          <p:cNvSpPr>
            <a:spLocks noGrp="1"/>
          </p:cNvSpPr>
          <p:nvPr>
            <p:ph type="title"/>
          </p:nvPr>
        </p:nvSpPr>
        <p:spPr>
          <a:xfrm>
            <a:off x="707413" y="4544704"/>
            <a:ext cx="4792635" cy="1811645"/>
          </a:xfrm>
        </p:spPr>
        <p:txBody>
          <a:bodyPr anchor="ctr">
            <a:normAutofit/>
          </a:bodyPr>
          <a:lstStyle/>
          <a:p>
            <a:r>
              <a:rPr lang="en-GB" sz="4000" dirty="0"/>
              <a:t>Problem Exploration</a:t>
            </a:r>
          </a:p>
        </p:txBody>
      </p:sp>
      <p:pic>
        <p:nvPicPr>
          <p:cNvPr id="5" name="Picture 4" descr="White arrows going to the red target">
            <a:extLst>
              <a:ext uri="{FF2B5EF4-FFF2-40B4-BE49-F238E27FC236}">
                <a16:creationId xmlns:a16="http://schemas.microsoft.com/office/drawing/2014/main" id="{EE0BD785-AFA5-B32E-75FF-91F0E592055B}"/>
              </a:ext>
            </a:extLst>
          </p:cNvPr>
          <p:cNvPicPr>
            <a:picLocks noChangeAspect="1"/>
          </p:cNvPicPr>
          <p:nvPr/>
        </p:nvPicPr>
        <p:blipFill rotWithShape="1">
          <a:blip r:embed="rId3"/>
          <a:srcRect l="1111" r="-1" b="-1"/>
          <a:stretch/>
        </p:blipFill>
        <p:spPr>
          <a:xfrm>
            <a:off x="-1" y="10"/>
            <a:ext cx="6096001" cy="4114790"/>
          </a:xfrm>
          <a:prstGeom prst="rect">
            <a:avLst/>
          </a:prstGeom>
        </p:spPr>
      </p:pic>
      <p:sp>
        <p:nvSpPr>
          <p:cNvPr id="3" name="Content Placeholder 2">
            <a:extLst>
              <a:ext uri="{FF2B5EF4-FFF2-40B4-BE49-F238E27FC236}">
                <a16:creationId xmlns:a16="http://schemas.microsoft.com/office/drawing/2014/main" id="{D0DD926B-1AD1-A5D5-BA2E-7EE7DDAE1962}"/>
              </a:ext>
            </a:extLst>
          </p:cNvPr>
          <p:cNvSpPr>
            <a:spLocks noGrp="1"/>
          </p:cNvSpPr>
          <p:nvPr>
            <p:ph idx="1"/>
          </p:nvPr>
        </p:nvSpPr>
        <p:spPr>
          <a:xfrm>
            <a:off x="6803409" y="546100"/>
            <a:ext cx="4681177" cy="5619985"/>
          </a:xfrm>
        </p:spPr>
        <p:txBody>
          <a:bodyPr anchor="ctr">
            <a:normAutofit/>
          </a:bodyPr>
          <a:lstStyle/>
          <a:p>
            <a:pPr marL="0" indent="0">
              <a:buNone/>
            </a:pPr>
            <a:r>
              <a:rPr lang="en-US" sz="1700" b="0" i="0" dirty="0">
                <a:effectLst/>
                <a:latin typeface="Arial" panose="020B0604020202020204" pitchFamily="34" charset="0"/>
                <a:cs typeface="Arial" panose="020B0604020202020204" pitchFamily="34" charset="0"/>
              </a:rPr>
              <a:t>First focus on how the model will be used. </a:t>
            </a:r>
          </a:p>
          <a:p>
            <a:pPr marL="0" indent="0">
              <a:buNone/>
            </a:pPr>
            <a:r>
              <a:rPr lang="en-US" sz="1700" b="0" i="0" dirty="0">
                <a:effectLst/>
                <a:latin typeface="Arial" panose="020B0604020202020204" pitchFamily="34" charset="0"/>
                <a:cs typeface="Arial" panose="020B0604020202020204" pitchFamily="34" charset="0"/>
              </a:rPr>
              <a:t>In the process, assess the desired model accuracy and explore other details, such as if false positives are worse than false negatives. This phase also includes understanding what data might be available.</a:t>
            </a:r>
          </a:p>
          <a:p>
            <a:pPr marL="0" indent="0">
              <a:buNone/>
            </a:pPr>
            <a:endParaRPr lang="en-US" sz="1700" b="0" i="0" dirty="0">
              <a:effectLst/>
              <a:latin typeface="Arial" panose="020B0604020202020204" pitchFamily="34" charset="0"/>
              <a:cs typeface="Arial" panose="020B0604020202020204" pitchFamily="34" charset="0"/>
            </a:endParaRPr>
          </a:p>
          <a:p>
            <a:pPr lvl="1"/>
            <a:r>
              <a:rPr lang="en-US" sz="1700" b="1" i="0" dirty="0">
                <a:effectLst/>
                <a:latin typeface="Arial" panose="020B0604020202020204" pitchFamily="34" charset="0"/>
                <a:cs typeface="Arial" panose="020B0604020202020204" pitchFamily="34" charset="0"/>
              </a:rPr>
              <a:t>Define Success</a:t>
            </a:r>
            <a:r>
              <a:rPr lang="en-US" sz="1700" b="0" i="0" dirty="0">
                <a:effectLst/>
                <a:latin typeface="Arial" panose="020B0604020202020204" pitchFamily="34" charset="0"/>
                <a:cs typeface="Arial" panose="020B0604020202020204" pitchFamily="34" charset="0"/>
              </a:rPr>
              <a:t>: Define the problem to be solved. For example, what should be predicted.  This helps define what data will be needed. Also, make sure it’s clear how success will be measured.</a:t>
            </a:r>
            <a:br>
              <a:rPr lang="en-US" sz="1700" b="0" i="0" dirty="0">
                <a:effectLst/>
                <a:latin typeface="Arial" panose="020B0604020202020204" pitchFamily="34" charset="0"/>
                <a:cs typeface="Arial" panose="020B0604020202020204" pitchFamily="34" charset="0"/>
              </a:rPr>
            </a:br>
            <a:br>
              <a:rPr lang="en-US" sz="1700" b="0" i="0" dirty="0">
                <a:effectLst/>
                <a:latin typeface="Arial" panose="020B0604020202020204" pitchFamily="34" charset="0"/>
                <a:cs typeface="Arial" panose="020B0604020202020204" pitchFamily="34" charset="0"/>
              </a:rPr>
            </a:br>
            <a:endParaRPr lang="en-US" sz="1700" b="0" i="0" dirty="0">
              <a:effectLst/>
              <a:latin typeface="Arial" panose="020B0604020202020204" pitchFamily="34" charset="0"/>
              <a:cs typeface="Arial" panose="020B0604020202020204" pitchFamily="34" charset="0"/>
            </a:endParaRPr>
          </a:p>
          <a:p>
            <a:pPr lvl="1"/>
            <a:r>
              <a:rPr lang="en-US" sz="1700" b="1" i="0" dirty="0">
                <a:effectLst/>
                <a:latin typeface="Arial" panose="020B0604020202020204" pitchFamily="34" charset="0"/>
                <a:cs typeface="Arial" panose="020B0604020202020204" pitchFamily="34" charset="0"/>
              </a:rPr>
              <a:t>Evaluate Data</a:t>
            </a:r>
            <a:r>
              <a:rPr lang="en-US" sz="1700" b="0" i="0" dirty="0">
                <a:effectLst/>
                <a:latin typeface="Arial" panose="020B0604020202020204" pitchFamily="34" charset="0"/>
                <a:cs typeface="Arial" panose="020B0604020202020204" pitchFamily="34" charset="0"/>
              </a:rPr>
              <a:t>: Determine what are the relevant data sources. In other words, evaluate what data the team will need, how that data is collected, and where the data is stored.  </a:t>
            </a:r>
          </a:p>
          <a:p>
            <a:endParaRPr lang="en-GB" sz="1700" dirty="0">
              <a:latin typeface="Arial" panose="020B0604020202020204" pitchFamily="34" charset="0"/>
              <a:cs typeface="Arial" panose="020B0604020202020204" pitchFamily="34" charset="0"/>
            </a:endParaRPr>
          </a:p>
        </p:txBody>
      </p:sp>
      <p:sp>
        <p:nvSpPr>
          <p:cNvPr id="11" name="Footer Placeholder 10">
            <a:extLst>
              <a:ext uri="{FF2B5EF4-FFF2-40B4-BE49-F238E27FC236}">
                <a16:creationId xmlns:a16="http://schemas.microsoft.com/office/drawing/2014/main" id="{7BE265D3-F499-DBF1-27CC-5D5B533578EE}"/>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2950098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48563-65AB-4D6A-ABD0-14654F705047}"/>
              </a:ext>
            </a:extLst>
          </p:cNvPr>
          <p:cNvSpPr>
            <a:spLocks noGrp="1"/>
          </p:cNvSpPr>
          <p:nvPr>
            <p:ph type="title"/>
          </p:nvPr>
        </p:nvSpPr>
        <p:spPr>
          <a:xfrm>
            <a:off x="6417733" y="490537"/>
            <a:ext cx="5291663" cy="1628775"/>
          </a:xfrm>
        </p:spPr>
        <p:txBody>
          <a:bodyPr anchor="b">
            <a:normAutofit/>
          </a:bodyPr>
          <a:lstStyle/>
          <a:p>
            <a:r>
              <a:rPr lang="en-GB" sz="4000" dirty="0"/>
              <a:t>Data Engineering</a:t>
            </a:r>
          </a:p>
        </p:txBody>
      </p:sp>
      <p:pic>
        <p:nvPicPr>
          <p:cNvPr id="3076" name="Picture 4" descr="What is Data Engineering? Here’s Everything You Should Know | Udacity">
            <a:extLst>
              <a:ext uri="{FF2B5EF4-FFF2-40B4-BE49-F238E27FC236}">
                <a16:creationId xmlns:a16="http://schemas.microsoft.com/office/drawing/2014/main" id="{102DE76B-022B-C6CE-95E4-388C8173C2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840" r="14812" b="-2"/>
          <a:stretch/>
        </p:blipFill>
        <p:spPr bwMode="auto">
          <a:xfrm>
            <a:off x="2" y="1587"/>
            <a:ext cx="6095999"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E0C85C7-3C95-4A9D-DB95-98D4756161A7}"/>
              </a:ext>
            </a:extLst>
          </p:cNvPr>
          <p:cNvSpPr>
            <a:spLocks noGrp="1"/>
          </p:cNvSpPr>
          <p:nvPr>
            <p:ph idx="1"/>
          </p:nvPr>
        </p:nvSpPr>
        <p:spPr>
          <a:xfrm>
            <a:off x="6417734" y="2614612"/>
            <a:ext cx="5291663" cy="3752849"/>
          </a:xfrm>
        </p:spPr>
        <p:txBody>
          <a:bodyPr>
            <a:normAutofit/>
          </a:bodyPr>
          <a:lstStyle/>
          <a:p>
            <a:pPr marL="0" indent="0">
              <a:buNone/>
            </a:pPr>
            <a:r>
              <a:rPr lang="en-US" sz="1000" b="0" i="0">
                <a:effectLst/>
                <a:latin typeface="Arial" panose="020B0604020202020204" pitchFamily="34" charset="0"/>
                <a:cs typeface="Arial" panose="020B0604020202020204" pitchFamily="34" charset="0"/>
              </a:rPr>
              <a:t>Design and build </a:t>
            </a:r>
            <a:r>
              <a:rPr lang="en-US" sz="1000" b="0" i="0" u="sng">
                <a:effectLst/>
                <a:latin typeface="Arial" panose="020B0604020202020204" pitchFamily="34" charset="0"/>
                <a:cs typeface="Arial" panose="020B0604020202020204" pitchFamily="34" charset="0"/>
              </a:rPr>
              <a:t>data pipelines</a:t>
            </a:r>
            <a:r>
              <a:rPr lang="en-US" sz="1000" b="0" i="0">
                <a:effectLst/>
                <a:latin typeface="Arial" panose="020B0604020202020204" pitchFamily="34" charset="0"/>
                <a:cs typeface="Arial" panose="020B0604020202020204" pitchFamily="34" charset="0"/>
              </a:rPr>
              <a:t>. These pipelines get, clean and transform data into a format that is more easily used to build a predictive model. Note that this data might be coming from multiple data sources, so merging the data is also a key aspect of data engineering. This is often where the most time is spent in an ML project.</a:t>
            </a:r>
          </a:p>
          <a:p>
            <a:endParaRPr lang="en-US" sz="1000" b="0" i="0">
              <a:effectLst/>
              <a:latin typeface="Arial" panose="020B0604020202020204" pitchFamily="34" charset="0"/>
              <a:cs typeface="Arial" panose="020B0604020202020204" pitchFamily="34" charset="0"/>
            </a:endParaRPr>
          </a:p>
          <a:p>
            <a:pPr lvl="1"/>
            <a:r>
              <a:rPr lang="en-US" sz="1000" b="1" i="0">
                <a:effectLst/>
                <a:latin typeface="Arial" panose="020B0604020202020204" pitchFamily="34" charset="0"/>
                <a:cs typeface="Arial" panose="020B0604020202020204" pitchFamily="34" charset="0"/>
              </a:rPr>
              <a:t>Obtain Data</a:t>
            </a:r>
            <a:r>
              <a:rPr lang="en-US" sz="1000" b="0" i="0">
                <a:effectLst/>
                <a:latin typeface="Arial" panose="020B0604020202020204" pitchFamily="34" charset="0"/>
                <a:cs typeface="Arial" panose="020B0604020202020204" pitchFamily="34" charset="0"/>
              </a:rPr>
              <a:t>: Assembling the data. This includes connecting to remove data stored and databases, which might be in different formats. For example, some data might be in CSV format, and other data could be available in JSON via web services.</a:t>
            </a:r>
          </a:p>
          <a:p>
            <a:pPr lvl="1"/>
            <a:endParaRPr lang="en-US" sz="1000" b="0" i="0">
              <a:effectLst/>
              <a:latin typeface="Arial" panose="020B0604020202020204" pitchFamily="34" charset="0"/>
              <a:cs typeface="Arial" panose="020B0604020202020204" pitchFamily="34" charset="0"/>
            </a:endParaRPr>
          </a:p>
          <a:p>
            <a:pPr lvl="1"/>
            <a:r>
              <a:rPr lang="en-US" sz="1000" b="1" i="0">
                <a:effectLst/>
                <a:latin typeface="Arial" panose="020B0604020202020204" pitchFamily="34" charset="0"/>
                <a:cs typeface="Arial" panose="020B0604020202020204" pitchFamily="34" charset="0"/>
              </a:rPr>
              <a:t>Scrub Data</a:t>
            </a:r>
            <a:r>
              <a:rPr lang="en-US" sz="1000" b="0" i="0">
                <a:effectLst/>
                <a:latin typeface="Arial" panose="020B0604020202020204" pitchFamily="34" charset="0"/>
                <a:cs typeface="Arial" panose="020B0604020202020204" pitchFamily="34" charset="0"/>
              </a:rPr>
              <a:t>: The process of </a:t>
            </a:r>
            <a:r>
              <a:rPr lang="en-US" sz="1000" b="0" i="0" u="sng">
                <a:effectLst/>
                <a:latin typeface="Arial" panose="020B0604020202020204" pitchFamily="34" charset="0"/>
                <a:cs typeface="Arial" panose="020B0604020202020204" pitchFamily="34" charset="0"/>
              </a:rPr>
              <a:t>re-formatting</a:t>
            </a:r>
            <a:r>
              <a:rPr lang="en-US" sz="1000" b="0" i="0">
                <a:effectLst/>
                <a:latin typeface="Arial" panose="020B0604020202020204" pitchFamily="34" charset="0"/>
                <a:cs typeface="Arial" panose="020B0604020202020204" pitchFamily="34" charset="0"/>
              </a:rPr>
              <a:t> particular attributes and correcting errors in data, such as missing values imputation. Datasets are often missing values, or they may contain values of the wrong type or range. Cleaning can include removing duplicates, correcting errors, dealing with missing values, normalization, and handling data type conversions.</a:t>
            </a:r>
          </a:p>
          <a:p>
            <a:pPr lvl="1"/>
            <a:endParaRPr lang="en-US" sz="1000" b="0" i="0">
              <a:effectLst/>
              <a:latin typeface="Arial" panose="020B0604020202020204" pitchFamily="34" charset="0"/>
              <a:cs typeface="Arial" panose="020B0604020202020204" pitchFamily="34" charset="0"/>
            </a:endParaRPr>
          </a:p>
          <a:p>
            <a:pPr lvl="1"/>
            <a:r>
              <a:rPr lang="en-US" sz="1000" b="1" i="0">
                <a:effectLst/>
                <a:latin typeface="Arial" panose="020B0604020202020204" pitchFamily="34" charset="0"/>
                <a:cs typeface="Arial" panose="020B0604020202020204" pitchFamily="34" charset="0"/>
              </a:rPr>
              <a:t>Explore / Validate Data</a:t>
            </a:r>
            <a:r>
              <a:rPr lang="en-US" sz="1000" b="0" i="0">
                <a:effectLst/>
                <a:latin typeface="Arial" panose="020B0604020202020204" pitchFamily="34" charset="0"/>
                <a:cs typeface="Arial" panose="020B0604020202020204" pitchFamily="34" charset="0"/>
              </a:rPr>
              <a:t>: Get a </a:t>
            </a:r>
            <a:r>
              <a:rPr lang="en-US" sz="1000" b="0" i="0" u="sng">
                <a:effectLst/>
                <a:latin typeface="Arial" panose="020B0604020202020204" pitchFamily="34" charset="0"/>
                <a:cs typeface="Arial" panose="020B0604020202020204" pitchFamily="34" charset="0"/>
              </a:rPr>
              <a:t>basic understanding </a:t>
            </a:r>
            <a:r>
              <a:rPr lang="en-US" sz="1000" b="0" i="0">
                <a:effectLst/>
                <a:latin typeface="Arial" panose="020B0604020202020204" pitchFamily="34" charset="0"/>
                <a:cs typeface="Arial" panose="020B0604020202020204" pitchFamily="34" charset="0"/>
              </a:rPr>
              <a:t>of the data. This exploratory analysis includes data profiling to obtain information about the content and structure of the data. The goal is to both understand the data attributes as well as the quality of the data.</a:t>
            </a:r>
          </a:p>
          <a:p>
            <a:endParaRPr lang="en-GB" sz="1000">
              <a:latin typeface="Arial" panose="020B0604020202020204" pitchFamily="34" charset="0"/>
              <a:cs typeface="Arial" panose="020B0604020202020204" pitchFamily="34" charset="0"/>
            </a:endParaRPr>
          </a:p>
        </p:txBody>
      </p:sp>
      <p:sp>
        <p:nvSpPr>
          <p:cNvPr id="10" name="Footer Placeholder 9">
            <a:extLst>
              <a:ext uri="{FF2B5EF4-FFF2-40B4-BE49-F238E27FC236}">
                <a16:creationId xmlns:a16="http://schemas.microsoft.com/office/drawing/2014/main" id="{1043BF74-2EF7-38BD-A2AC-7EAEF7119B60}"/>
              </a:ext>
            </a:extLst>
          </p:cNvPr>
          <p:cNvSpPr>
            <a:spLocks noGrp="1"/>
          </p:cNvSpPr>
          <p:nvPr>
            <p:ph type="ftr" sz="quarter" idx="11"/>
          </p:nvPr>
        </p:nvSpPr>
        <p:spPr/>
        <p:txBody>
          <a:bodyPr/>
          <a:lstStyle/>
          <a:p>
            <a:pPr rtl="0"/>
            <a:r>
              <a:rPr lang="en-US" dirty="0"/>
              <a:t>Youssef A. Khattab</a:t>
            </a:r>
          </a:p>
        </p:txBody>
      </p:sp>
    </p:spTree>
    <p:extLst>
      <p:ext uri="{BB962C8B-B14F-4D97-AF65-F5344CB8AC3E}">
        <p14:creationId xmlns:p14="http://schemas.microsoft.com/office/powerpoint/2010/main" val="41551146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56"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61" name="Rectangle 4160">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7E0449-3848-24CC-8A3A-B004DCB1A537}"/>
              </a:ext>
            </a:extLst>
          </p:cNvPr>
          <p:cNvSpPr>
            <a:spLocks noGrp="1"/>
          </p:cNvSpPr>
          <p:nvPr>
            <p:ph type="title"/>
          </p:nvPr>
        </p:nvSpPr>
        <p:spPr>
          <a:xfrm>
            <a:off x="761802" y="240241"/>
            <a:ext cx="10760054" cy="1228299"/>
          </a:xfrm>
        </p:spPr>
        <p:txBody>
          <a:bodyPr>
            <a:normAutofit/>
          </a:bodyPr>
          <a:lstStyle/>
          <a:p>
            <a:r>
              <a:rPr lang="en-GB" sz="4000" dirty="0"/>
              <a:t>Model Engineering</a:t>
            </a:r>
          </a:p>
        </p:txBody>
      </p:sp>
      <p:sp>
        <p:nvSpPr>
          <p:cNvPr id="4151" name="Content Placeholder 2">
            <a:extLst>
              <a:ext uri="{FF2B5EF4-FFF2-40B4-BE49-F238E27FC236}">
                <a16:creationId xmlns:a16="http://schemas.microsoft.com/office/drawing/2014/main" id="{382F810F-3CE6-A91D-E21D-9E766EDD115E}"/>
              </a:ext>
            </a:extLst>
          </p:cNvPr>
          <p:cNvSpPr>
            <a:spLocks noGrp="1"/>
          </p:cNvSpPr>
          <p:nvPr>
            <p:ph idx="1"/>
          </p:nvPr>
        </p:nvSpPr>
        <p:spPr>
          <a:xfrm>
            <a:off x="244930" y="1969358"/>
            <a:ext cx="5428576" cy="4648400"/>
          </a:xfrm>
        </p:spPr>
        <p:txBody>
          <a:bodyPr anchor="ctr">
            <a:normAutofit/>
          </a:bodyPr>
          <a:lstStyle/>
          <a:p>
            <a:pPr marL="0" indent="0">
              <a:buNone/>
            </a:pPr>
            <a:r>
              <a:rPr lang="en-US" sz="1400" b="0" i="0">
                <a:effectLst/>
                <a:latin typeface="Arial" panose="020B0604020202020204" pitchFamily="34" charset="0"/>
                <a:cs typeface="Arial" panose="020B0604020202020204" pitchFamily="34" charset="0"/>
              </a:rPr>
              <a:t>This is the phase that most people associate with building a machine learning model. During this phase, data is used to train and evaluate the model. This is often an iterative task, where the different models are tried, and the model is tuned.</a:t>
            </a:r>
          </a:p>
          <a:p>
            <a:endParaRPr lang="en-US" sz="1400" b="0" i="0">
              <a:effectLst/>
              <a:latin typeface="Arial" panose="020B0604020202020204" pitchFamily="34" charset="0"/>
              <a:cs typeface="Arial" panose="020B0604020202020204" pitchFamily="34" charset="0"/>
            </a:endParaRPr>
          </a:p>
          <a:p>
            <a:pPr>
              <a:buFont typeface="Arial" panose="020B0604020202020204" pitchFamily="34" charset="0"/>
              <a:buChar char="•"/>
            </a:pPr>
            <a:r>
              <a:rPr lang="en-US" sz="1400" b="1" i="0">
                <a:effectLst/>
                <a:latin typeface="Arial" panose="020B0604020202020204" pitchFamily="34" charset="0"/>
                <a:cs typeface="Arial" panose="020B0604020202020204" pitchFamily="34" charset="0"/>
              </a:rPr>
              <a:t>Select &amp; Train Model</a:t>
            </a:r>
            <a:r>
              <a:rPr lang="en-US" sz="1400" b="0" i="0">
                <a:effectLst/>
                <a:latin typeface="Arial" panose="020B0604020202020204" pitchFamily="34" charset="0"/>
                <a:cs typeface="Arial" panose="020B0604020202020204" pitchFamily="34" charset="0"/>
              </a:rPr>
              <a:t>: Identify suitable models and train them using training data to achieve the desired prediction accuracy.</a:t>
            </a:r>
          </a:p>
          <a:p>
            <a:pPr>
              <a:buFont typeface="Arial" panose="020B0604020202020204" pitchFamily="34" charset="0"/>
              <a:buChar char="•"/>
            </a:pPr>
            <a:r>
              <a:rPr lang="en-US" sz="1400" b="1" i="0">
                <a:effectLst/>
                <a:latin typeface="Arial" panose="020B0604020202020204" pitchFamily="34" charset="0"/>
                <a:cs typeface="Arial" panose="020B0604020202020204" pitchFamily="34" charset="0"/>
              </a:rPr>
              <a:t>Test Model</a:t>
            </a:r>
            <a:r>
              <a:rPr lang="en-US" sz="1400" b="0" i="0">
                <a:effectLst/>
                <a:latin typeface="Arial" panose="020B0604020202020204" pitchFamily="34" charset="0"/>
                <a:cs typeface="Arial" panose="020B0604020202020204" pitchFamily="34" charset="0"/>
              </a:rPr>
              <a:t>: Assess model performance on unseen data (testing data) to ensure generalizability and robustness.</a:t>
            </a:r>
          </a:p>
          <a:p>
            <a:pPr>
              <a:buFont typeface="Arial" panose="020B0604020202020204" pitchFamily="34" charset="0"/>
              <a:buChar char="•"/>
            </a:pPr>
            <a:r>
              <a:rPr lang="en-US" sz="1400" b="1" i="0">
                <a:effectLst/>
                <a:latin typeface="Arial" panose="020B0604020202020204" pitchFamily="34" charset="0"/>
                <a:cs typeface="Arial" panose="020B0604020202020204" pitchFamily="34" charset="0"/>
              </a:rPr>
              <a:t>Evaluate &amp; Interpret Model</a:t>
            </a:r>
            <a:r>
              <a:rPr lang="en-US" sz="1400" b="0" i="0">
                <a:effectLst/>
                <a:latin typeface="Arial" panose="020B0604020202020204" pitchFamily="34" charset="0"/>
                <a:cs typeface="Arial" panose="020B0604020202020204" pitchFamily="34" charset="0"/>
              </a:rPr>
              <a:t>: Objectively measure model performance, considering metrics like accuracy and precision, and understand its strengths and weaknesses.</a:t>
            </a:r>
          </a:p>
          <a:p>
            <a:pPr>
              <a:buFont typeface="Arial" panose="020B0604020202020204" pitchFamily="34" charset="0"/>
              <a:buChar char="•"/>
            </a:pPr>
            <a:r>
              <a:rPr lang="en-US" sz="1400" b="1" i="0">
                <a:effectLst/>
                <a:latin typeface="Arial" panose="020B0604020202020204" pitchFamily="34" charset="0"/>
                <a:cs typeface="Arial" panose="020B0604020202020204" pitchFamily="34" charset="0"/>
              </a:rPr>
              <a:t>Tune Model</a:t>
            </a:r>
            <a:r>
              <a:rPr lang="en-US" sz="1400" b="0" i="0">
                <a:effectLst/>
                <a:latin typeface="Arial" panose="020B0604020202020204" pitchFamily="34" charset="0"/>
                <a:cs typeface="Arial" panose="020B0604020202020204" pitchFamily="34" charset="0"/>
              </a:rPr>
              <a:t>: Adjust model parameters to improve performance and address specific requirements, ensuring optimal model performance.</a:t>
            </a:r>
          </a:p>
          <a:p>
            <a:endParaRPr lang="en-GB" sz="1400" dirty="0">
              <a:latin typeface="Arial" panose="020B0604020202020204" pitchFamily="34" charset="0"/>
              <a:cs typeface="Arial" panose="020B0604020202020204" pitchFamily="34" charset="0"/>
            </a:endParaRPr>
          </a:p>
        </p:txBody>
      </p:sp>
      <p:pic>
        <p:nvPicPr>
          <p:cNvPr id="4098" name="Picture 2" descr="Model Engineering">
            <a:extLst>
              <a:ext uri="{FF2B5EF4-FFF2-40B4-BE49-F238E27FC236}">
                <a16:creationId xmlns:a16="http://schemas.microsoft.com/office/drawing/2014/main" id="{9F01C823-EA05-B145-CB7C-4234357B94B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841386" y="2258497"/>
            <a:ext cx="6105684" cy="4070122"/>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8">
            <a:extLst>
              <a:ext uri="{FF2B5EF4-FFF2-40B4-BE49-F238E27FC236}">
                <a16:creationId xmlns:a16="http://schemas.microsoft.com/office/drawing/2014/main" id="{71E8611C-D266-23D2-B54C-A8590E91613A}"/>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13855301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7"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79" name="Rectangle 2078">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51C130-8275-77B5-19A3-0D86FF05B6F3}"/>
              </a:ext>
            </a:extLst>
          </p:cNvPr>
          <p:cNvSpPr>
            <a:spLocks noGrp="1"/>
          </p:cNvSpPr>
          <p:nvPr>
            <p:ph type="title"/>
          </p:nvPr>
        </p:nvSpPr>
        <p:spPr>
          <a:xfrm>
            <a:off x="761802" y="240241"/>
            <a:ext cx="10760054" cy="1228299"/>
          </a:xfrm>
        </p:spPr>
        <p:txBody>
          <a:bodyPr>
            <a:normAutofit/>
          </a:bodyPr>
          <a:lstStyle/>
          <a:p>
            <a:r>
              <a:rPr lang="en-GB" sz="4000" dirty="0"/>
              <a:t>ML Ops</a:t>
            </a:r>
          </a:p>
        </p:txBody>
      </p:sp>
      <p:sp>
        <p:nvSpPr>
          <p:cNvPr id="3" name="Content Placeholder 2">
            <a:extLst>
              <a:ext uri="{FF2B5EF4-FFF2-40B4-BE49-F238E27FC236}">
                <a16:creationId xmlns:a16="http://schemas.microsoft.com/office/drawing/2014/main" id="{FE2BF8FA-424F-7BBB-4624-D12DF5C5A191}"/>
              </a:ext>
            </a:extLst>
          </p:cNvPr>
          <p:cNvSpPr>
            <a:spLocks noGrp="1"/>
          </p:cNvSpPr>
          <p:nvPr>
            <p:ph idx="1"/>
          </p:nvPr>
        </p:nvSpPr>
        <p:spPr>
          <a:xfrm>
            <a:off x="761802" y="2321476"/>
            <a:ext cx="4864875" cy="3850724"/>
          </a:xfrm>
        </p:spPr>
        <p:txBody>
          <a:bodyPr anchor="ctr">
            <a:normAutofit/>
          </a:bodyPr>
          <a:lstStyle/>
          <a:p>
            <a:pPr marL="0" indent="0">
              <a:buNone/>
            </a:pPr>
            <a:r>
              <a:rPr lang="en-US" sz="1400" b="0" i="0">
                <a:effectLst/>
                <a:latin typeface="Arial" panose="020B0604020202020204" pitchFamily="34" charset="0"/>
                <a:cs typeface="Arial" panose="020B0604020202020204" pitchFamily="34" charset="0"/>
              </a:rPr>
              <a:t>Broadly defined, </a:t>
            </a:r>
            <a:r>
              <a:rPr lang="en-US" sz="1400" b="0" i="0" strike="noStrike">
                <a:effectLst/>
                <a:latin typeface="Arial" panose="020B0604020202020204" pitchFamily="34" charset="0"/>
                <a:cs typeface="Arial" panose="020B0604020202020204" pitchFamily="34" charset="0"/>
              </a:rPr>
              <a:t>machine learning operations</a:t>
            </a:r>
            <a:r>
              <a:rPr lang="en-US" sz="1400" b="0" i="0">
                <a:effectLst/>
                <a:latin typeface="Arial" panose="020B0604020202020204" pitchFamily="34" charset="0"/>
                <a:cs typeface="Arial" panose="020B0604020202020204" pitchFamily="34" charset="0"/>
              </a:rPr>
              <a:t> (ML Ops) spans a wide set of practices, systems, and responsibilities that data scientists, data engineers, cloud engineers, IT operations, and business stakeholders use to deploy, scale, and maintain machine learning solutions.</a:t>
            </a:r>
          </a:p>
          <a:p>
            <a:pPr marL="0" indent="0">
              <a:buNone/>
            </a:pPr>
            <a:endParaRPr lang="en-US" sz="1400" b="0" i="0">
              <a:effectLst/>
              <a:latin typeface="Arial" panose="020B0604020202020204" pitchFamily="34" charset="0"/>
              <a:cs typeface="Arial" panose="020B0604020202020204" pitchFamily="34" charset="0"/>
            </a:endParaRPr>
          </a:p>
          <a:p>
            <a:r>
              <a:rPr lang="en-US" sz="1400" b="1" i="0">
                <a:effectLst/>
                <a:latin typeface="Arial" panose="020B0604020202020204" pitchFamily="34" charset="0"/>
                <a:cs typeface="Arial" panose="020B0604020202020204" pitchFamily="34" charset="0"/>
              </a:rPr>
              <a:t>Deploy Model</a:t>
            </a:r>
            <a:r>
              <a:rPr lang="en-US" sz="1400" b="0" i="0">
                <a:effectLst/>
                <a:latin typeface="Arial" panose="020B0604020202020204" pitchFamily="34" charset="0"/>
                <a:cs typeface="Arial" panose="020B0604020202020204" pitchFamily="34" charset="0"/>
              </a:rPr>
              <a:t>: Package and put the model to use (i.e., into production). While this varies from one group to another, the team needs to understand the expected model performance, how the model will be monitored, and in general, key performance indicators (KPIs) of the model.</a:t>
            </a:r>
          </a:p>
          <a:p>
            <a:endParaRPr lang="en-US" sz="1400" b="0" i="0">
              <a:effectLst/>
              <a:latin typeface="Arial" panose="020B0604020202020204" pitchFamily="34" charset="0"/>
              <a:cs typeface="Arial" panose="020B0604020202020204" pitchFamily="34" charset="0"/>
            </a:endParaRPr>
          </a:p>
          <a:p>
            <a:r>
              <a:rPr lang="en-US" sz="1400" b="1" i="0">
                <a:effectLst/>
                <a:latin typeface="Arial" panose="020B0604020202020204" pitchFamily="34" charset="0"/>
                <a:cs typeface="Arial" panose="020B0604020202020204" pitchFamily="34" charset="0"/>
              </a:rPr>
              <a:t>Monitor Model</a:t>
            </a:r>
            <a:r>
              <a:rPr lang="en-US" sz="1400" b="0" i="0">
                <a:effectLst/>
                <a:latin typeface="Arial" panose="020B0604020202020204" pitchFamily="34" charset="0"/>
                <a:cs typeface="Arial" panose="020B0604020202020204" pitchFamily="34" charset="0"/>
              </a:rPr>
              <a:t>: Maintain the model in production. This includes monitoring the KPIs and proactively working to ensure stable and robust predictions.</a:t>
            </a:r>
          </a:p>
          <a:p>
            <a:pPr marL="0" indent="0">
              <a:buNone/>
            </a:pPr>
            <a:endParaRPr lang="en-GB" sz="1400">
              <a:latin typeface="Arial" panose="020B0604020202020204" pitchFamily="34" charset="0"/>
              <a:cs typeface="Arial" panose="020B0604020202020204" pitchFamily="34" charset="0"/>
            </a:endParaRPr>
          </a:p>
        </p:txBody>
      </p:sp>
      <p:pic>
        <p:nvPicPr>
          <p:cNvPr id="2050" name="Picture 2" descr="Machine Learning Operations Venn Diagram">
            <a:extLst>
              <a:ext uri="{FF2B5EF4-FFF2-40B4-BE49-F238E27FC236}">
                <a16:creationId xmlns:a16="http://schemas.microsoft.com/office/drawing/2014/main" id="{A1CBE464-2998-BCD0-0B3D-B052AF25EDB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29047" y="2321476"/>
            <a:ext cx="3807411" cy="3807411"/>
          </a:xfrm>
          <a:prstGeom prst="rect">
            <a:avLst/>
          </a:prstGeom>
          <a:noFill/>
          <a:extLst>
            <a:ext uri="{909E8E84-426E-40DD-AFC4-6F175D3DCCD1}">
              <a14:hiddenFill xmlns:a14="http://schemas.microsoft.com/office/drawing/2010/main">
                <a:solidFill>
                  <a:srgbClr val="FFFFFF"/>
                </a:solidFill>
              </a14:hiddenFill>
            </a:ext>
          </a:extLst>
        </p:spPr>
      </p:pic>
      <p:sp>
        <p:nvSpPr>
          <p:cNvPr id="10" name="Footer Placeholder 9">
            <a:extLst>
              <a:ext uri="{FF2B5EF4-FFF2-40B4-BE49-F238E27FC236}">
                <a16:creationId xmlns:a16="http://schemas.microsoft.com/office/drawing/2014/main" id="{A3655D98-A8C1-4963-6742-70D6C3A3DCF5}"/>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2986764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0E0BDA4-5457-5C7D-DBE5-1C8C3DB569AE}"/>
              </a:ext>
            </a:extLst>
          </p:cNvPr>
          <p:cNvPicPr>
            <a:picLocks noGrp="1" noChangeAspect="1"/>
          </p:cNvPicPr>
          <p:nvPr>
            <p:ph idx="1"/>
          </p:nvPr>
        </p:nvPicPr>
        <p:blipFill>
          <a:blip r:embed="rId2"/>
          <a:stretch>
            <a:fillRect/>
          </a:stretch>
        </p:blipFill>
        <p:spPr>
          <a:xfrm>
            <a:off x="414604" y="555171"/>
            <a:ext cx="11362791" cy="5454140"/>
          </a:xfrm>
          <a:prstGeom prst="rect">
            <a:avLst/>
          </a:prstGeom>
        </p:spPr>
      </p:pic>
      <p:sp>
        <p:nvSpPr>
          <p:cNvPr id="9" name="Footer Placeholder 8">
            <a:extLst>
              <a:ext uri="{FF2B5EF4-FFF2-40B4-BE49-F238E27FC236}">
                <a16:creationId xmlns:a16="http://schemas.microsoft.com/office/drawing/2014/main" id="{6B882F67-6C9F-0B91-627D-85B0ADA3A848}"/>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11912386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DBAE98-20E1-8D15-E6B5-4D2DA5E94F62}"/>
              </a:ext>
            </a:extLst>
          </p:cNvPr>
          <p:cNvSpPr>
            <a:spLocks noGrp="1"/>
          </p:cNvSpPr>
          <p:nvPr>
            <p:ph type="ctrTitle"/>
          </p:nvPr>
        </p:nvSpPr>
        <p:spPr>
          <a:xfrm>
            <a:off x="890338" y="640080"/>
            <a:ext cx="3948362" cy="3566160"/>
          </a:xfrm>
        </p:spPr>
        <p:txBody>
          <a:bodyPr anchor="b">
            <a:normAutofit/>
          </a:bodyPr>
          <a:lstStyle/>
          <a:p>
            <a:pPr algn="l"/>
            <a:r>
              <a:rPr lang="en-US" sz="4600" kern="1200" dirty="0">
                <a:latin typeface="+mj-lt"/>
                <a:ea typeface="+mj-ea"/>
                <a:cs typeface="+mj-cs"/>
              </a:rPr>
              <a:t>ML Use-cases &amp; Applications</a:t>
            </a:r>
            <a:endParaRPr lang="en-GB" sz="4600" dirty="0"/>
          </a:p>
        </p:txBody>
      </p:sp>
      <p:sp>
        <p:nvSpPr>
          <p:cNvPr id="76"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oy robots">
            <a:extLst>
              <a:ext uri="{FF2B5EF4-FFF2-40B4-BE49-F238E27FC236}">
                <a16:creationId xmlns:a16="http://schemas.microsoft.com/office/drawing/2014/main" id="{908399C7-D5D7-61C6-0F8A-107F74F79AE7}"/>
              </a:ext>
            </a:extLst>
          </p:cNvPr>
          <p:cNvPicPr>
            <a:picLocks noChangeAspect="1"/>
          </p:cNvPicPr>
          <p:nvPr/>
        </p:nvPicPr>
        <p:blipFill rotWithShape="1">
          <a:blip r:embed="rId2">
            <a:extLst>
              <a:ext uri="{28A0092B-C50C-407E-A947-70E740481C1C}">
                <a14:useLocalDpi xmlns:a14="http://schemas.microsoft.com/office/drawing/2010/main" val="0"/>
              </a:ext>
            </a:extLst>
          </a:blip>
          <a:srcRect l="38082" r="4745"/>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9" name="Footer Placeholder 8">
            <a:extLst>
              <a:ext uri="{FF2B5EF4-FFF2-40B4-BE49-F238E27FC236}">
                <a16:creationId xmlns:a16="http://schemas.microsoft.com/office/drawing/2014/main" id="{2609F86B-9BF6-6AED-DF77-57B3C5EF1744}"/>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984161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04" name="Rectangle 7203">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206" name="Rectangle 7205">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3B4E02-F87D-78FB-59E8-B4A8C4CEE4C1}"/>
              </a:ext>
            </a:extLst>
          </p:cNvPr>
          <p:cNvSpPr>
            <a:spLocks noGrp="1"/>
          </p:cNvSpPr>
          <p:nvPr>
            <p:ph type="title"/>
          </p:nvPr>
        </p:nvSpPr>
        <p:spPr>
          <a:xfrm>
            <a:off x="734944" y="912677"/>
            <a:ext cx="3692653" cy="1106424"/>
          </a:xfrm>
        </p:spPr>
        <p:txBody>
          <a:bodyPr>
            <a:normAutofit/>
          </a:bodyPr>
          <a:lstStyle/>
          <a:p>
            <a:r>
              <a:rPr lang="en-US" sz="2400" dirty="0"/>
              <a:t>Speech Emotion Recognition with </a:t>
            </a:r>
            <a:r>
              <a:rPr lang="en-US" sz="2400" dirty="0" err="1"/>
              <a:t>librosa</a:t>
            </a:r>
            <a:endParaRPr lang="en-GB" sz="2400" dirty="0"/>
          </a:p>
        </p:txBody>
      </p:sp>
      <p:sp>
        <p:nvSpPr>
          <p:cNvPr id="7208" name="Rectangle 7207">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210" name="Rectangle 7209">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6F6EA00-FAD6-842C-B7F1-B2CA02384E5C}"/>
              </a:ext>
            </a:extLst>
          </p:cNvPr>
          <p:cNvSpPr>
            <a:spLocks noGrp="1"/>
          </p:cNvSpPr>
          <p:nvPr>
            <p:ph idx="1"/>
          </p:nvPr>
        </p:nvSpPr>
        <p:spPr>
          <a:xfrm>
            <a:off x="841248" y="2252870"/>
            <a:ext cx="3412219" cy="3560251"/>
          </a:xfrm>
        </p:spPr>
        <p:txBody>
          <a:bodyPr>
            <a:normAutofit/>
          </a:bodyPr>
          <a:lstStyle/>
          <a:p>
            <a:r>
              <a:rPr lang="en-US" sz="1400" dirty="0">
                <a:latin typeface="Arial" panose="020B0604020202020204" pitchFamily="34" charset="0"/>
                <a:cs typeface="Arial" panose="020B0604020202020204" pitchFamily="34" charset="0"/>
              </a:rPr>
              <a:t>In the Speech Emotion Recognition with </a:t>
            </a:r>
            <a:r>
              <a:rPr lang="en-US" sz="1400" dirty="0" err="1">
                <a:latin typeface="Arial" panose="020B0604020202020204" pitchFamily="34" charset="0"/>
                <a:cs typeface="Arial" panose="020B0604020202020204" pitchFamily="34" charset="0"/>
              </a:rPr>
              <a:t>Librosa</a:t>
            </a:r>
            <a:r>
              <a:rPr lang="en-US" sz="1400" dirty="0">
                <a:latin typeface="Arial" panose="020B0604020202020204" pitchFamily="34" charset="0"/>
                <a:cs typeface="Arial" panose="020B0604020202020204" pitchFamily="34" charset="0"/>
              </a:rPr>
              <a:t> project, you will process sound files using </a:t>
            </a:r>
            <a:r>
              <a:rPr lang="en-US" sz="1400" dirty="0" err="1">
                <a:latin typeface="Arial" panose="020B0604020202020204" pitchFamily="34" charset="0"/>
                <a:cs typeface="Arial" panose="020B0604020202020204" pitchFamily="34" charset="0"/>
              </a:rPr>
              <a:t>Librosa</a:t>
            </a:r>
            <a:r>
              <a:rPr lang="en-US" sz="1400" dirty="0">
                <a:latin typeface="Arial" panose="020B0604020202020204" pitchFamily="34" charset="0"/>
                <a:cs typeface="Arial" panose="020B0604020202020204" pitchFamily="34" charset="0"/>
              </a:rPr>
              <a:t>, sound file, and </a:t>
            </a:r>
            <a:r>
              <a:rPr lang="en-US" sz="1400" dirty="0" err="1">
                <a:latin typeface="Arial" panose="020B0604020202020204" pitchFamily="34" charset="0"/>
                <a:cs typeface="Arial" panose="020B0604020202020204" pitchFamily="34" charset="0"/>
              </a:rPr>
              <a:t>sklearn</a:t>
            </a:r>
            <a:r>
              <a:rPr lang="en-US" sz="1400" dirty="0">
                <a:latin typeface="Arial" panose="020B0604020202020204" pitchFamily="34" charset="0"/>
                <a:cs typeface="Arial" panose="020B0604020202020204" pitchFamily="34" charset="0"/>
              </a:rPr>
              <a:t> for the </a:t>
            </a:r>
            <a:r>
              <a:rPr lang="en-US" sz="1400" dirty="0" err="1">
                <a:latin typeface="Arial" panose="020B0604020202020204" pitchFamily="34" charset="0"/>
                <a:cs typeface="Arial" panose="020B0604020202020204" pitchFamily="34" charset="0"/>
              </a:rPr>
              <a:t>MLPClassifier</a:t>
            </a:r>
            <a:r>
              <a:rPr lang="en-US" sz="1400" dirty="0">
                <a:latin typeface="Arial" panose="020B0604020202020204" pitchFamily="34" charset="0"/>
                <a:cs typeface="Arial" panose="020B0604020202020204" pitchFamily="34" charset="0"/>
              </a:rPr>
              <a:t> to recognize emotion from sound files.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You will load and process sound files, perform feature extraction, and train the Multi-Layer Perceptron classifier model. The project will teach you the basics of audio processing so that you can advance into training a deep learning model to achieve better accuracy. </a:t>
            </a:r>
            <a:endParaRPr lang="en-GB" sz="1400" dirty="0">
              <a:latin typeface="Arial" panose="020B0604020202020204" pitchFamily="34" charset="0"/>
              <a:cs typeface="Arial" panose="020B0604020202020204" pitchFamily="34" charset="0"/>
            </a:endParaRPr>
          </a:p>
        </p:txBody>
      </p:sp>
      <p:pic>
        <p:nvPicPr>
          <p:cNvPr id="7170" name="Picture 2" descr="deep learning model">
            <a:extLst>
              <a:ext uri="{FF2B5EF4-FFF2-40B4-BE49-F238E27FC236}">
                <a16:creationId xmlns:a16="http://schemas.microsoft.com/office/drawing/2014/main" id="{BAF40FF3-3797-5CDB-6D21-971FEF663E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20640" y="1393252"/>
            <a:ext cx="6656832" cy="3970911"/>
          </a:xfrm>
          <a:prstGeom prst="rect">
            <a:avLst/>
          </a:prstGeom>
          <a:noFill/>
          <a:extLst>
            <a:ext uri="{909E8E84-426E-40DD-AFC4-6F175D3DCCD1}">
              <a14:hiddenFill xmlns:a14="http://schemas.microsoft.com/office/drawing/2010/main">
                <a:solidFill>
                  <a:srgbClr val="FFFFFF"/>
                </a:solidFill>
              </a14:hiddenFill>
            </a:ext>
          </a:extLst>
        </p:spPr>
      </p:pic>
      <p:sp>
        <p:nvSpPr>
          <p:cNvPr id="10" name="Footer Placeholder 9">
            <a:extLst>
              <a:ext uri="{FF2B5EF4-FFF2-40B4-BE49-F238E27FC236}">
                <a16:creationId xmlns:a16="http://schemas.microsoft.com/office/drawing/2014/main" id="{136CA8AF-990F-3310-1E96-F6372C181006}"/>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3194458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41" name="Rectangle 9240">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242" name="Rectangle 9241">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FB68221-7448-74A0-7013-0AF2323B1F99}"/>
              </a:ext>
            </a:extLst>
          </p:cNvPr>
          <p:cNvSpPr>
            <a:spLocks noGrp="1"/>
          </p:cNvSpPr>
          <p:nvPr>
            <p:ph type="title"/>
          </p:nvPr>
        </p:nvSpPr>
        <p:spPr>
          <a:xfrm>
            <a:off x="1046746" y="586822"/>
            <a:ext cx="3560252" cy="1645920"/>
          </a:xfrm>
        </p:spPr>
        <p:txBody>
          <a:bodyPr>
            <a:normAutofit/>
          </a:bodyPr>
          <a:lstStyle/>
          <a:p>
            <a:r>
              <a:rPr lang="en-US" sz="3200" dirty="0"/>
              <a:t>Stock Market Analysis And Forecasting</a:t>
            </a:r>
            <a:endParaRPr lang="en-GB" sz="3200" dirty="0"/>
          </a:p>
        </p:txBody>
      </p:sp>
      <p:sp>
        <p:nvSpPr>
          <p:cNvPr id="9227" name="Rectangle 9226">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9229" name="Rectangle 9228">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580A93A-792D-1444-9A63-7E1F25AD2F1B}"/>
              </a:ext>
            </a:extLst>
          </p:cNvPr>
          <p:cNvSpPr>
            <a:spLocks noGrp="1"/>
          </p:cNvSpPr>
          <p:nvPr>
            <p:ph idx="1"/>
          </p:nvPr>
        </p:nvSpPr>
        <p:spPr>
          <a:xfrm>
            <a:off x="5351164" y="586822"/>
            <a:ext cx="6002636" cy="1645920"/>
          </a:xfrm>
        </p:spPr>
        <p:txBody>
          <a:bodyPr anchor="ctr">
            <a:normAutofit lnSpcReduction="10000"/>
          </a:bodyPr>
          <a:lstStyle/>
          <a:p>
            <a:r>
              <a:rPr lang="en-US" sz="1200" dirty="0">
                <a:latin typeface="Arial" panose="020B0604020202020204" pitchFamily="34" charset="0"/>
                <a:cs typeface="Arial" panose="020B0604020202020204" pitchFamily="34" charset="0"/>
              </a:rPr>
              <a:t>In the Stock Market Analysis And Forecasting project, you will use GRUs (Gated Recurrent Unit) to build deep learning forecasting models for predicting stock prices of Amazon, IBM, and Microsoft. </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In the first part, you will dive deep into times series analytics to learn about trends and seasonality of stock price, and then you will use this information to process your data and build a GRU model using </a:t>
            </a:r>
            <a:r>
              <a:rPr lang="en-US" sz="1200" dirty="0" err="1">
                <a:latin typeface="Arial" panose="020B0604020202020204" pitchFamily="34" charset="0"/>
                <a:cs typeface="Arial" panose="020B0604020202020204" pitchFamily="34" charset="0"/>
              </a:rPr>
              <a:t>PyTorch</a:t>
            </a:r>
            <a:r>
              <a:rPr lang="en-US" sz="1200" dirty="0">
                <a:latin typeface="Arial" panose="020B0604020202020204" pitchFamily="34" charset="0"/>
                <a:cs typeface="Arial" panose="020B0604020202020204" pitchFamily="34" charset="0"/>
              </a:rPr>
              <a:t>. For guidance, you can check out the code source on GitHub. </a:t>
            </a:r>
            <a:endParaRPr lang="en-GB" sz="1200" dirty="0">
              <a:latin typeface="Arial" panose="020B0604020202020204" pitchFamily="34" charset="0"/>
              <a:cs typeface="Arial" panose="020B0604020202020204" pitchFamily="34" charset="0"/>
            </a:endParaRPr>
          </a:p>
        </p:txBody>
      </p:sp>
      <p:pic>
        <p:nvPicPr>
          <p:cNvPr id="9218" name="Picture 2" descr="Naïve Bees">
            <a:extLst>
              <a:ext uri="{FF2B5EF4-FFF2-40B4-BE49-F238E27FC236}">
                <a16:creationId xmlns:a16="http://schemas.microsoft.com/office/drawing/2014/main" id="{3F420139-0018-5508-2529-4042A755608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61956" y="2676139"/>
            <a:ext cx="9468087" cy="3902724"/>
          </a:xfrm>
          <a:prstGeom prst="rect">
            <a:avLst/>
          </a:prstGeom>
          <a:noFill/>
          <a:extLst>
            <a:ext uri="{909E8E84-426E-40DD-AFC4-6F175D3DCCD1}">
              <a14:hiddenFill xmlns:a14="http://schemas.microsoft.com/office/drawing/2010/main">
                <a:solidFill>
                  <a:srgbClr val="FFFFFF"/>
                </a:solidFill>
              </a14:hiddenFill>
            </a:ext>
          </a:extLst>
        </p:spPr>
      </p:pic>
      <p:sp>
        <p:nvSpPr>
          <p:cNvPr id="10" name="Footer Placeholder 9">
            <a:extLst>
              <a:ext uri="{FF2B5EF4-FFF2-40B4-BE49-F238E27FC236}">
                <a16:creationId xmlns:a16="http://schemas.microsoft.com/office/drawing/2014/main" id="{7E1BA800-CE7F-9C55-B3EE-EACF77CD0281}"/>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30935739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70" name="Rectangle 10269">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9F877D-8429-99A0-D0A7-E8BB2683C132}"/>
              </a:ext>
            </a:extLst>
          </p:cNvPr>
          <p:cNvSpPr>
            <a:spLocks noGrp="1"/>
          </p:cNvSpPr>
          <p:nvPr>
            <p:ph type="title"/>
          </p:nvPr>
        </p:nvSpPr>
        <p:spPr>
          <a:xfrm>
            <a:off x="411480" y="991443"/>
            <a:ext cx="4443154" cy="1087819"/>
          </a:xfrm>
        </p:spPr>
        <p:txBody>
          <a:bodyPr vert="horz" lIns="91440" tIns="45720" rIns="91440" bIns="45720" rtlCol="0" anchor="b">
            <a:normAutofit/>
          </a:bodyPr>
          <a:lstStyle/>
          <a:p>
            <a:r>
              <a:rPr lang="en-US" sz="2900" kern="1200" dirty="0">
                <a:solidFill>
                  <a:schemeClr val="tx1"/>
                </a:solidFill>
                <a:latin typeface="+mj-lt"/>
                <a:ea typeface="+mj-ea"/>
                <a:cs typeface="+mj-cs"/>
              </a:rPr>
              <a:t>Reinforcement Learning for Connect X</a:t>
            </a:r>
          </a:p>
        </p:txBody>
      </p:sp>
      <p:sp>
        <p:nvSpPr>
          <p:cNvPr id="10271" name="Rectangle 1027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272" name="Rectangle 10271">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TextBox 6">
            <a:extLst>
              <a:ext uri="{FF2B5EF4-FFF2-40B4-BE49-F238E27FC236}">
                <a16:creationId xmlns:a16="http://schemas.microsoft.com/office/drawing/2014/main" id="{97E92C3C-7D2D-A699-5DCC-E441C097C803}"/>
              </a:ext>
            </a:extLst>
          </p:cNvPr>
          <p:cNvSpPr txBox="1"/>
          <p:nvPr/>
        </p:nvSpPr>
        <p:spPr>
          <a:xfrm>
            <a:off x="411480" y="2684095"/>
            <a:ext cx="4443154" cy="349286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700" dirty="0"/>
              <a:t>The </a:t>
            </a:r>
            <a:r>
              <a:rPr lang="en-US" sz="1700" b="1" dirty="0"/>
              <a:t>Connect X </a:t>
            </a:r>
            <a:r>
              <a:rPr lang="en-US" sz="1700" dirty="0"/>
              <a:t>is a getting started simulation competition by Kaggle. Build an RL (Reinforcement Learning) agent to compete against other Kaggle competition participants. </a:t>
            </a:r>
          </a:p>
          <a:p>
            <a:pPr indent="-228600">
              <a:lnSpc>
                <a:spcPct val="90000"/>
              </a:lnSpc>
              <a:spcAft>
                <a:spcPts val="600"/>
              </a:spcAft>
              <a:buFont typeface="Arial" panose="020B0604020202020204" pitchFamily="34" charset="0"/>
              <a:buChar char="•"/>
            </a:pPr>
            <a:endParaRPr lang="en-US" sz="1700" dirty="0"/>
          </a:p>
          <a:p>
            <a:pPr indent="-228600">
              <a:lnSpc>
                <a:spcPct val="90000"/>
              </a:lnSpc>
              <a:spcAft>
                <a:spcPts val="600"/>
              </a:spcAft>
              <a:buFont typeface="Arial" panose="020B0604020202020204" pitchFamily="34" charset="0"/>
              <a:buChar char="•"/>
            </a:pPr>
            <a:r>
              <a:rPr lang="en-US" sz="1700" dirty="0"/>
              <a:t>You will first learn how the game works and create a dummy functional agent for a baseline. After that, you will start experimenting with various RL algorithms and model architectures. You can try building a model on Deep Q-learning or Proximal Policy Optimization algorithm.</a:t>
            </a:r>
          </a:p>
          <a:p>
            <a:pPr indent="-228600">
              <a:lnSpc>
                <a:spcPct val="90000"/>
              </a:lnSpc>
              <a:spcAft>
                <a:spcPts val="600"/>
              </a:spcAft>
              <a:buFont typeface="Arial" panose="020B0604020202020204" pitchFamily="34" charset="0"/>
              <a:buChar char="•"/>
            </a:pPr>
            <a:endParaRPr lang="en-US" sz="1700" dirty="0"/>
          </a:p>
        </p:txBody>
      </p:sp>
      <p:pic>
        <p:nvPicPr>
          <p:cNvPr id="10242" name="Picture 2" descr="Connect x">
            <a:extLst>
              <a:ext uri="{FF2B5EF4-FFF2-40B4-BE49-F238E27FC236}">
                <a16:creationId xmlns:a16="http://schemas.microsoft.com/office/drawing/2014/main" id="{F9144533-C720-A30B-8370-44433745A4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385816" y="1181565"/>
            <a:ext cx="6440424" cy="4439515"/>
          </a:xfrm>
          <a:prstGeom prst="rect">
            <a:avLst/>
          </a:prstGeom>
          <a:noFill/>
          <a:extLst>
            <a:ext uri="{909E8E84-426E-40DD-AFC4-6F175D3DCCD1}">
              <a14:hiddenFill xmlns:a14="http://schemas.microsoft.com/office/drawing/2010/main">
                <a:solidFill>
                  <a:srgbClr val="FFFFFF"/>
                </a:solidFill>
              </a14:hiddenFill>
            </a:ext>
          </a:extLst>
        </p:spPr>
      </p:pic>
      <p:sp>
        <p:nvSpPr>
          <p:cNvPr id="10" name="Footer Placeholder 9">
            <a:extLst>
              <a:ext uri="{FF2B5EF4-FFF2-40B4-BE49-F238E27FC236}">
                <a16:creationId xmlns:a16="http://schemas.microsoft.com/office/drawing/2014/main" id="{802D56FD-C0CD-F181-65EF-C7EDCD05470F}"/>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42121629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E9FE4C-ABF6-EF26-247D-8765B7E67520}"/>
              </a:ext>
            </a:extLst>
          </p:cNvPr>
          <p:cNvSpPr>
            <a:spLocks noGrp="1"/>
          </p:cNvSpPr>
          <p:nvPr>
            <p:ph type="title"/>
          </p:nvPr>
        </p:nvSpPr>
        <p:spPr>
          <a:xfrm>
            <a:off x="838200" y="557188"/>
            <a:ext cx="10515600" cy="1133499"/>
          </a:xfrm>
        </p:spPr>
        <p:txBody>
          <a:bodyPr>
            <a:normAutofit/>
          </a:bodyPr>
          <a:lstStyle/>
          <a:p>
            <a:pPr algn="ctr"/>
            <a:r>
              <a:rPr lang="en-US" sz="3600" dirty="0">
                <a:latin typeface="Arial" panose="020B0604020202020204" pitchFamily="34" charset="0"/>
                <a:cs typeface="Arial" panose="020B0604020202020204" pitchFamily="34" charset="0"/>
              </a:rPr>
              <a:t>What are the roles and positions in the field?</a:t>
            </a:r>
            <a:endParaRPr lang="en-GB" sz="3600" dirty="0">
              <a:latin typeface="Arial" panose="020B0604020202020204" pitchFamily="34" charset="0"/>
              <a:cs typeface="Arial" panose="020B0604020202020204" pitchFamily="34" charset="0"/>
            </a:endParaRPr>
          </a:p>
        </p:txBody>
      </p:sp>
      <p:graphicFrame>
        <p:nvGraphicFramePr>
          <p:cNvPr id="5" name="Content Placeholder 2">
            <a:extLst>
              <a:ext uri="{FF2B5EF4-FFF2-40B4-BE49-F238E27FC236}">
                <a16:creationId xmlns:a16="http://schemas.microsoft.com/office/drawing/2014/main" id="{24C6B859-ADCD-ABCA-3409-14EEE5C2F006}"/>
              </a:ext>
            </a:extLst>
          </p:cNvPr>
          <p:cNvGraphicFramePr>
            <a:graphicFrameLocks noGrp="1"/>
          </p:cNvGraphicFramePr>
          <p:nvPr>
            <p:ph idx="1"/>
            <p:extLst>
              <p:ext uri="{D42A27DB-BD31-4B8C-83A1-F6EECF244321}">
                <p14:modId xmlns:p14="http://schemas.microsoft.com/office/powerpoint/2010/main" val="777279022"/>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Footer Placeholder 9">
            <a:extLst>
              <a:ext uri="{FF2B5EF4-FFF2-40B4-BE49-F238E27FC236}">
                <a16:creationId xmlns:a16="http://schemas.microsoft.com/office/drawing/2014/main" id="{064F0451-8C38-BEF5-0FBD-A7EC4AF2E7C2}"/>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19722710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6BA847-B695-D4A4-36C2-B9C599A3F77F}"/>
              </a:ext>
            </a:extLst>
          </p:cNvPr>
          <p:cNvSpPr>
            <a:spLocks noGrp="1"/>
          </p:cNvSpPr>
          <p:nvPr>
            <p:ph type="title"/>
          </p:nvPr>
        </p:nvSpPr>
        <p:spPr>
          <a:xfrm>
            <a:off x="838200" y="557188"/>
            <a:ext cx="10515600" cy="1133499"/>
          </a:xfrm>
        </p:spPr>
        <p:txBody>
          <a:bodyPr>
            <a:normAutofit/>
          </a:bodyPr>
          <a:lstStyle/>
          <a:p>
            <a:pPr algn="ctr"/>
            <a:r>
              <a:rPr lang="en-GB" sz="5200" b="0" i="0" dirty="0">
                <a:effectLst/>
                <a:latin typeface="Arial" panose="020B0604020202020204" pitchFamily="34" charset="0"/>
                <a:cs typeface="Arial" panose="020B0604020202020204" pitchFamily="34" charset="0"/>
              </a:rPr>
              <a:t>What to Study?</a:t>
            </a:r>
            <a:endParaRPr lang="en-GB" sz="5200" dirty="0">
              <a:latin typeface="Arial" panose="020B0604020202020204" pitchFamily="34" charset="0"/>
              <a:cs typeface="Arial" panose="020B0604020202020204" pitchFamily="34" charset="0"/>
            </a:endParaRPr>
          </a:p>
        </p:txBody>
      </p:sp>
      <p:graphicFrame>
        <p:nvGraphicFramePr>
          <p:cNvPr id="5" name="Content Placeholder 2">
            <a:extLst>
              <a:ext uri="{FF2B5EF4-FFF2-40B4-BE49-F238E27FC236}">
                <a16:creationId xmlns:a16="http://schemas.microsoft.com/office/drawing/2014/main" id="{D1092D96-D494-0B71-43B0-646E03C9A6EE}"/>
              </a:ext>
            </a:extLst>
          </p:cNvPr>
          <p:cNvGraphicFramePr>
            <a:graphicFrameLocks noGrp="1"/>
          </p:cNvGraphicFramePr>
          <p:nvPr>
            <p:ph idx="1"/>
            <p:extLst>
              <p:ext uri="{D42A27DB-BD31-4B8C-83A1-F6EECF244321}">
                <p14:modId xmlns:p14="http://schemas.microsoft.com/office/powerpoint/2010/main" val="4259261612"/>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Footer Placeholder 9">
            <a:extLst>
              <a:ext uri="{FF2B5EF4-FFF2-40B4-BE49-F238E27FC236}">
                <a16:creationId xmlns:a16="http://schemas.microsoft.com/office/drawing/2014/main" id="{A65FC6D4-0EC3-9D7A-F972-14620C03F138}"/>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15001896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7" name="Rectangle 66">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06C808-B533-506D-7FF0-60270130B51C}"/>
              </a:ext>
            </a:extLst>
          </p:cNvPr>
          <p:cNvSpPr>
            <a:spLocks noGrp="1"/>
          </p:cNvSpPr>
          <p:nvPr>
            <p:ph type="title"/>
          </p:nvPr>
        </p:nvSpPr>
        <p:spPr>
          <a:xfrm>
            <a:off x="589560" y="856180"/>
            <a:ext cx="4560584" cy="1128068"/>
          </a:xfrm>
        </p:spPr>
        <p:txBody>
          <a:bodyPr anchor="ctr">
            <a:normAutofit/>
          </a:bodyPr>
          <a:lstStyle/>
          <a:p>
            <a:r>
              <a:rPr lang="en-US" sz="3700" dirty="0"/>
              <a:t>Future of a Career in ML</a:t>
            </a:r>
            <a:endParaRPr lang="en-GB" sz="3700" dirty="0"/>
          </a:p>
        </p:txBody>
      </p:sp>
      <p:grpSp>
        <p:nvGrpSpPr>
          <p:cNvPr id="68" name="Group 6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43" name="Rectangle 4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Content Placeholder 2">
            <a:extLst>
              <a:ext uri="{FF2B5EF4-FFF2-40B4-BE49-F238E27FC236}">
                <a16:creationId xmlns:a16="http://schemas.microsoft.com/office/drawing/2014/main" id="{1C695F80-1A4F-1FE1-08D4-A9FBA86613C6}"/>
              </a:ext>
            </a:extLst>
          </p:cNvPr>
          <p:cNvSpPr>
            <a:spLocks noGrp="1"/>
          </p:cNvSpPr>
          <p:nvPr>
            <p:ph idx="1"/>
          </p:nvPr>
        </p:nvSpPr>
        <p:spPr>
          <a:xfrm>
            <a:off x="590719" y="2330505"/>
            <a:ext cx="4559425" cy="3979585"/>
          </a:xfrm>
        </p:spPr>
        <p:txBody>
          <a:bodyPr anchor="ctr">
            <a:normAutofit/>
          </a:bodyPr>
          <a:lstStyle/>
          <a:p>
            <a:pPr marL="0" indent="0">
              <a:buNone/>
            </a:pPr>
            <a:r>
              <a:rPr lang="en-US" sz="1300">
                <a:latin typeface="Arial" panose="020B0604020202020204" pitchFamily="34" charset="0"/>
                <a:cs typeface="Arial" panose="020B0604020202020204" pitchFamily="34" charset="0"/>
              </a:rPr>
              <a:t>Growing Demand: With increasing adoption of AI and ML across industries, demand for skilled professionals continues to rise.</a:t>
            </a:r>
          </a:p>
          <a:p>
            <a:pPr marL="0" indent="0">
              <a:buNone/>
            </a:pPr>
            <a:r>
              <a:rPr lang="en-US" sz="1300">
                <a:latin typeface="Arial" panose="020B0604020202020204" pitchFamily="34" charset="0"/>
                <a:cs typeface="Arial" panose="020B0604020202020204" pitchFamily="34" charset="0"/>
              </a:rPr>
              <a:t>Diverse Opportunities: ML careers span various sectors, including healthcare, finance, retail, and entertainment, offering diverse and rewarding career paths.</a:t>
            </a:r>
          </a:p>
          <a:p>
            <a:pPr marL="0" indent="0">
              <a:buNone/>
            </a:pPr>
            <a:r>
              <a:rPr lang="en-US" sz="1300">
                <a:latin typeface="Arial" panose="020B0604020202020204" pitchFamily="34" charset="0"/>
                <a:cs typeface="Arial" panose="020B0604020202020204" pitchFamily="34" charset="0"/>
              </a:rPr>
              <a:t>Continuous Innovation: As the field evolves, ML professionals have opportunities to work on cutting-edge research and develop groundbreaking solutions to complex problems.</a:t>
            </a:r>
          </a:p>
          <a:p>
            <a:pPr marL="0" indent="0">
              <a:buNone/>
            </a:pPr>
            <a:r>
              <a:rPr lang="en-US" sz="1300">
                <a:latin typeface="Arial" panose="020B0604020202020204" pitchFamily="34" charset="0"/>
                <a:cs typeface="Arial" panose="020B0604020202020204" pitchFamily="34" charset="0"/>
              </a:rPr>
              <a:t>Lifelong Learning: ML is a dynamic field that requires continuous learning and adaptation to stay updated with the latest techniques, technologies, and trends.</a:t>
            </a:r>
          </a:p>
          <a:p>
            <a:pPr marL="0" indent="0">
              <a:buNone/>
            </a:pPr>
            <a:r>
              <a:rPr lang="en-US" sz="1300">
                <a:latin typeface="Arial" panose="020B0604020202020204" pitchFamily="34" charset="0"/>
                <a:cs typeface="Arial" panose="020B0604020202020204" pitchFamily="34" charset="0"/>
              </a:rPr>
              <a:t>Impactful Contributions: ML professionals have the opportunity to make a meaningful impact on society by leveraging AI to address global challenges and improve people's lives.</a:t>
            </a:r>
            <a:endParaRPr lang="en-GB" sz="1300">
              <a:latin typeface="Arial" panose="020B0604020202020204" pitchFamily="34" charset="0"/>
              <a:cs typeface="Arial" panose="020B0604020202020204" pitchFamily="34" charset="0"/>
            </a:endParaRPr>
          </a:p>
        </p:txBody>
      </p:sp>
      <p:sp>
        <p:nvSpPr>
          <p:cNvPr id="70" name="Rectangle 6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B761611C-4945-C050-F6F2-AEC33C9D8880}"/>
              </a:ext>
            </a:extLst>
          </p:cNvPr>
          <p:cNvPicPr>
            <a:picLocks noChangeAspect="1"/>
          </p:cNvPicPr>
          <p:nvPr/>
        </p:nvPicPr>
        <p:blipFill rotWithShape="1">
          <a:blip r:embed="rId2"/>
          <a:srcRect l="20684" r="20515"/>
          <a:stretch/>
        </p:blipFill>
        <p:spPr>
          <a:xfrm>
            <a:off x="5977788" y="799352"/>
            <a:ext cx="5425410" cy="5259296"/>
          </a:xfrm>
          <a:prstGeom prst="rect">
            <a:avLst/>
          </a:prstGeom>
        </p:spPr>
      </p:pic>
      <p:sp>
        <p:nvSpPr>
          <p:cNvPr id="10" name="Footer Placeholder 9">
            <a:extLst>
              <a:ext uri="{FF2B5EF4-FFF2-40B4-BE49-F238E27FC236}">
                <a16:creationId xmlns:a16="http://schemas.microsoft.com/office/drawing/2014/main" id="{AEEC0C3F-A61B-AE81-291A-A62903A05EF6}"/>
              </a:ext>
            </a:extLst>
          </p:cNvPr>
          <p:cNvSpPr>
            <a:spLocks noGrp="1"/>
          </p:cNvSpPr>
          <p:nvPr>
            <p:ph type="ftr" sz="quarter" idx="11"/>
          </p:nvPr>
        </p:nvSpPr>
        <p:spPr/>
        <p:txBody>
          <a:bodyPr/>
          <a:lstStyle/>
          <a:p>
            <a:pPr rtl="0"/>
            <a:r>
              <a:rPr lang="en-US"/>
              <a:t>Youssef A. Khattab</a:t>
            </a:r>
            <a:endParaRPr lang="en-US" dirty="0"/>
          </a:p>
        </p:txBody>
      </p:sp>
    </p:spTree>
    <p:extLst>
      <p:ext uri="{BB962C8B-B14F-4D97-AF65-F5344CB8AC3E}">
        <p14:creationId xmlns:p14="http://schemas.microsoft.com/office/powerpoint/2010/main" val="6368490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198BCA74-29F5-9037-5956-527D224C3D24}"/>
              </a:ext>
            </a:extLst>
          </p:cNvPr>
          <p:cNvSpPr txBox="1">
            <a:spLocks noGrp="1"/>
          </p:cNvSpPr>
          <p:nvPr>
            <p:ph type="title"/>
          </p:nvPr>
        </p:nvSpPr>
        <p:spPr>
          <a:xfrm>
            <a:off x="6748272" y="4018276"/>
            <a:ext cx="4800261" cy="1644592"/>
          </a:xfrm>
          <a:prstGeom prst="rect">
            <a:avLst/>
          </a:prstGeom>
        </p:spPr>
        <p:txBody>
          <a:bodyPr vert="horz" lIns="91440" tIns="45720" rIns="91440" bIns="45720" rtlCol="0" anchor="t">
            <a:normAutofit/>
          </a:bodyPr>
          <a:lstStyle/>
          <a:p>
            <a:pPr>
              <a:spcAft>
                <a:spcPts val="600"/>
              </a:spcAft>
            </a:pPr>
            <a:r>
              <a:rPr lang="en-US" sz="4000">
                <a:solidFill>
                  <a:schemeClr val="tx2"/>
                </a:solidFill>
              </a:rPr>
              <a:t>Q&amp;A</a:t>
            </a:r>
          </a:p>
        </p:txBody>
      </p:sp>
      <p:pic>
        <p:nvPicPr>
          <p:cNvPr id="5" name="Content Placeholder 4">
            <a:extLst>
              <a:ext uri="{FF2B5EF4-FFF2-40B4-BE49-F238E27FC236}">
                <a16:creationId xmlns:a16="http://schemas.microsoft.com/office/drawing/2014/main" id="{AE13B63E-160B-0F7D-A11A-CC20979EE081}"/>
              </a:ext>
            </a:extLst>
          </p:cNvPr>
          <p:cNvPicPr>
            <a:picLocks noGrp="1" noChangeAspect="1"/>
          </p:cNvPicPr>
          <p:nvPr>
            <p:ph idx="1"/>
          </p:nvPr>
        </p:nvPicPr>
        <p:blipFill rotWithShape="1">
          <a:blip r:embed="rId3">
            <a:alphaModFix/>
          </a:blip>
          <a:srcRect r="44508" b="1"/>
          <a:stretch/>
        </p:blipFill>
        <p:spPr>
          <a:xfrm>
            <a:off x="-305" y="1"/>
            <a:ext cx="6423053" cy="6858000"/>
          </a:xfrm>
          <a:prstGeom prst="rect">
            <a:avLst/>
          </a:prstGeom>
        </p:spPr>
      </p:pic>
      <p:grpSp>
        <p:nvGrpSpPr>
          <p:cNvPr id="31" name="Group 30">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32" name="Freeform: Shape 31">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4" name="Freeform: Shape 33">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35" name="Freeform: Shape 34">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36" name="Freeform: Shape 35">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10" name="Footer Placeholder 9">
            <a:extLst>
              <a:ext uri="{FF2B5EF4-FFF2-40B4-BE49-F238E27FC236}">
                <a16:creationId xmlns:a16="http://schemas.microsoft.com/office/drawing/2014/main" id="{ACA69471-6BA0-F496-0C7C-EA6AFC73E46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prstClr val="black">
                    <a:tint val="75000"/>
                  </a:prstClr>
                </a:solidFill>
                <a:latin typeface="Calibri" panose="020F0502020204030204"/>
                <a:ea typeface="+mn-ea"/>
                <a:cs typeface="+mn-cs"/>
              </a:rPr>
              <a:t>Youssef A. Khattab</a:t>
            </a:r>
          </a:p>
        </p:txBody>
      </p:sp>
    </p:spTree>
    <p:extLst>
      <p:ext uri="{BB962C8B-B14F-4D97-AF65-F5344CB8AC3E}">
        <p14:creationId xmlns:p14="http://schemas.microsoft.com/office/powerpoint/2010/main" val="2256739947"/>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odern 01">
      <a:majorFont>
        <a:latin typeface="Century Gothic"/>
        <a:ea typeface=""/>
        <a:cs typeface=""/>
      </a:majorFont>
      <a:minorFont>
        <a:latin typeface="Segoe U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88930311_Updated" id="{0D1AB845-8C91-4A17-83C2-554F3A60F4B7}" vid="{9E18AF1B-19C5-465B-9A10-4BC0656C0F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Data-driven presentation, from 24Slides</Template>
  <TotalTime>1940</TotalTime>
  <Words>2573</Words>
  <Application>Microsoft Office PowerPoint</Application>
  <PresentationFormat>Widescreen</PresentationFormat>
  <Paragraphs>189</Paragraphs>
  <Slides>39</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39</vt:i4>
      </vt:variant>
    </vt:vector>
  </HeadingPairs>
  <TitlesOfParts>
    <vt:vector size="48" baseType="lpstr">
      <vt:lpstr>Arial</vt:lpstr>
      <vt:lpstr>Calibri</vt:lpstr>
      <vt:lpstr>Century Gothic</vt:lpstr>
      <vt:lpstr>Google Sans</vt:lpstr>
      <vt:lpstr>LiberationMono</vt:lpstr>
      <vt:lpstr>LiberationMono-Bold</vt:lpstr>
      <vt:lpstr>Segoe UI Light</vt:lpstr>
      <vt:lpstr>Wingdings</vt:lpstr>
      <vt:lpstr>Office Theme</vt:lpstr>
      <vt:lpstr>PowerPoint Presentation</vt:lpstr>
      <vt:lpstr>PowerPoint Presentation</vt:lpstr>
      <vt:lpstr>Your First AI Model:  https://shorturl.at/kp145</vt:lpstr>
      <vt:lpstr>PowerPoint Presentation</vt:lpstr>
      <vt:lpstr>PowerPoint Presentation</vt:lpstr>
      <vt:lpstr>Supervised Learning: Learning from Labeled Examples</vt:lpstr>
      <vt:lpstr>Common Supervised Learning Algorithms</vt:lpstr>
      <vt:lpstr>Interactive Activity: Supervised Learning in Action: Predicting Housing Prices</vt:lpstr>
      <vt:lpstr>How to Start a Machine Learning Project?</vt:lpstr>
      <vt:lpstr>Download the Data</vt:lpstr>
      <vt:lpstr>A Quick Look at the Data Structure</vt:lpstr>
      <vt:lpstr>Summary of the numerical attributes</vt:lpstr>
      <vt:lpstr>Visualize histogram for each numerical attribute</vt:lpstr>
      <vt:lpstr>Visualizing Geographical Data</vt:lpstr>
      <vt:lpstr>Looking for Correlations</vt:lpstr>
      <vt:lpstr>Create a Test Set (Evaluation)</vt:lpstr>
      <vt:lpstr>Prepare the Data</vt:lpstr>
      <vt:lpstr>Prepare the Data</vt:lpstr>
      <vt:lpstr>Handling Categorical Attributes Results</vt:lpstr>
      <vt:lpstr>Feature Scaling and Transformation</vt:lpstr>
      <vt:lpstr>Feature Scaling Result</vt:lpstr>
      <vt:lpstr>Select and Train a Model</vt:lpstr>
      <vt:lpstr>Model Predictions</vt:lpstr>
      <vt:lpstr>Conclusion</vt:lpstr>
      <vt:lpstr>Additional part:  ML Journey </vt:lpstr>
      <vt:lpstr>Machine Learning Process</vt:lpstr>
      <vt:lpstr>Problem Exploration</vt:lpstr>
      <vt:lpstr>Data Engineering</vt:lpstr>
      <vt:lpstr>Model Engineering</vt:lpstr>
      <vt:lpstr>ML Ops</vt:lpstr>
      <vt:lpstr>PowerPoint Presentation</vt:lpstr>
      <vt:lpstr>ML Use-cases &amp; Applications</vt:lpstr>
      <vt:lpstr>Speech Emotion Recognition with librosa</vt:lpstr>
      <vt:lpstr>Stock Market Analysis And Forecasting</vt:lpstr>
      <vt:lpstr>Reinforcement Learning for Connect X</vt:lpstr>
      <vt:lpstr>What are the roles and positions in the field?</vt:lpstr>
      <vt:lpstr>What to Study?</vt:lpstr>
      <vt:lpstr>Future of a Career in ML</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Youssef Khattab</dc:creator>
  <cp:lastModifiedBy>Youssef Khattab</cp:lastModifiedBy>
  <cp:revision>17</cp:revision>
  <dcterms:created xsi:type="dcterms:W3CDTF">2024-02-14T11:04:11Z</dcterms:created>
  <dcterms:modified xsi:type="dcterms:W3CDTF">2024-08-22T16:52:43Z</dcterms:modified>
</cp:coreProperties>
</file>